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270" r:id="rId3"/>
    <p:sldId id="261" r:id="rId4"/>
    <p:sldId id="262" r:id="rId5"/>
    <p:sldId id="263" r:id="rId6"/>
    <p:sldId id="264" r:id="rId7"/>
    <p:sldId id="265" r:id="rId8"/>
    <p:sldId id="271" r:id="rId9"/>
    <p:sldId id="272" r:id="rId10"/>
    <p:sldId id="273" r:id="rId11"/>
    <p:sldId id="274" r:id="rId12"/>
    <p:sldId id="275" r:id="rId13"/>
    <p:sldId id="276" r:id="rId14"/>
    <p:sldId id="277"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85" d="100"/>
          <a:sy n="85" d="100"/>
        </p:scale>
        <p:origin x="7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r>
            <a:rPr lang="en-US" dirty="0">
              <a:latin typeface="Times New Roman" panose="02020603050405020304" pitchFamily="18" charset="0"/>
              <a:cs typeface="Times New Roman" panose="02020603050405020304" pitchFamily="18" charset="0"/>
            </a:rPr>
            <a:t>Onboarding and Orientation, Understanding company policies and team workflow</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r>
            <a:rPr lang="en-US" dirty="0">
              <a:latin typeface="Times New Roman" panose="02020603050405020304" pitchFamily="18" charset="0"/>
              <a:cs typeface="Times New Roman" panose="02020603050405020304" pitchFamily="18" charset="0"/>
            </a:rPr>
            <a:t>Training on tools required for TTT Law processes and completing small guided tasks with hands on practical learning. </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r>
            <a:rPr lang="en-US" dirty="0">
              <a:latin typeface="Times New Roman" panose="02020603050405020304" pitchFamily="18" charset="0"/>
              <a:cs typeface="Times New Roman" panose="02020603050405020304" pitchFamily="18" charset="0"/>
            </a:rPr>
            <a:t>Working as a part of the team on the assigned tasks and projects accordingly.</a:t>
          </a: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963B51F8-1265-4536-96EC-70C9F59F6EA3}">
      <dgm:prSet/>
      <dgm:spPr/>
      <dgm:t>
        <a:bodyPr/>
        <a:lstStyle/>
        <a:p>
          <a:r>
            <a:rPr lang="en-US">
              <a:latin typeface="Times New Roman" panose="02020603050405020304" pitchFamily="18" charset="0"/>
              <a:cs typeface="Times New Roman" panose="02020603050405020304" pitchFamily="18" charset="0"/>
            </a:rPr>
            <a:t>Continuing on the team- based work/projects and process understanding &amp; implementation. </a:t>
          </a:r>
          <a:endParaRPr lang="en-IN"/>
        </a:p>
      </dgm:t>
    </dgm:pt>
    <dgm:pt modelId="{F955041A-7100-4A72-8099-43A21D8FCC94}" type="parTrans" cxnId="{1D426CDF-5F18-49A4-8625-BE09427369F6}">
      <dgm:prSet/>
      <dgm:spPr/>
      <dgm:t>
        <a:bodyPr/>
        <a:lstStyle/>
        <a:p>
          <a:endParaRPr lang="en-IN"/>
        </a:p>
      </dgm:t>
    </dgm:pt>
    <dgm:pt modelId="{D7552FB1-3BB2-482E-AB57-DF8A2C441B80}" type="sibTrans" cxnId="{1D426CDF-5F18-49A4-8625-BE09427369F6}">
      <dgm:prSet/>
      <dgm:spPr/>
      <dgm:t>
        <a:bodyPr/>
        <a:lstStyle/>
        <a:p>
          <a:endParaRPr lang="en-IN"/>
        </a:p>
      </dgm:t>
    </dgm:pt>
    <dgm:pt modelId="{B451ADE3-4A33-4A44-839F-6D692216A623}">
      <dgm:prSet/>
      <dgm:spPr/>
      <dgm:t>
        <a:bodyPr/>
        <a:lstStyle/>
        <a:p>
          <a:r>
            <a:rPr lang="en-US">
              <a:latin typeface="Times New Roman" panose="02020603050405020304" pitchFamily="18" charset="0"/>
              <a:cs typeface="Times New Roman" panose="02020603050405020304" pitchFamily="18" charset="0"/>
            </a:rPr>
            <a:t>Continuing on the team- based work/projects and process understanding &amp; implementation. </a:t>
          </a:r>
          <a:endParaRPr lang="en-IN" dirty="0">
            <a:latin typeface="Times New Roman" panose="02020603050405020304" pitchFamily="18" charset="0"/>
            <a:cs typeface="Times New Roman" panose="02020603050405020304" pitchFamily="18" charset="0"/>
          </a:endParaRPr>
        </a:p>
      </dgm:t>
    </dgm:pt>
    <dgm:pt modelId="{7F154C3F-A59C-4592-9EC9-74AFFD8987D1}" type="parTrans" cxnId="{F9365AE7-74C9-434E-8DDB-53C94E6DBE6E}">
      <dgm:prSet/>
      <dgm:spPr/>
      <dgm:t>
        <a:bodyPr/>
        <a:lstStyle/>
        <a:p>
          <a:endParaRPr lang="en-IN"/>
        </a:p>
      </dgm:t>
    </dgm:pt>
    <dgm:pt modelId="{2D960CCA-22AD-4818-9639-6A9B3838DA3B}" type="sibTrans" cxnId="{F9365AE7-74C9-434E-8DDB-53C94E6DBE6E}">
      <dgm:prSet/>
      <dgm:spPr/>
      <dgm:t>
        <a:bodyPr/>
        <a:lstStyle/>
        <a:p>
          <a:endParaRPr lang="en-IN"/>
        </a:p>
      </dgm:t>
    </dgm:pt>
    <dgm:pt modelId="{735E601C-9F4E-44C8-839F-069B96D6C723}">
      <dgm:prSet/>
      <dgm:spPr/>
      <dgm:t>
        <a:bodyPr/>
        <a:lstStyle/>
        <a:p>
          <a:r>
            <a:rPr lang="en-US">
              <a:latin typeface="Times New Roman" panose="02020603050405020304" pitchFamily="18" charset="0"/>
              <a:cs typeface="Times New Roman" panose="02020603050405020304" pitchFamily="18" charset="0"/>
            </a:rPr>
            <a:t>Completion of the project/Internship and final report preparation and submission.</a:t>
          </a:r>
          <a:endParaRPr lang="en-IN"/>
        </a:p>
      </dgm:t>
    </dgm:pt>
    <dgm:pt modelId="{38F7A8FB-D4FF-47AB-8153-0E274C0021B6}" type="parTrans" cxnId="{BEE7EBC7-6DF9-44B6-BDBB-06194D4D2BF6}">
      <dgm:prSet/>
      <dgm:spPr/>
      <dgm:t>
        <a:bodyPr/>
        <a:lstStyle/>
        <a:p>
          <a:endParaRPr lang="en-IN"/>
        </a:p>
      </dgm:t>
    </dgm:pt>
    <dgm:pt modelId="{7C1F3B66-2E29-463E-8037-F5B0635CBB37}" type="sibTrans" cxnId="{BEE7EBC7-6DF9-44B6-BDBB-06194D4D2BF6}">
      <dgm:prSet/>
      <dgm:spPr/>
      <dgm:t>
        <a:bodyPr/>
        <a:lstStyle/>
        <a:p>
          <a:endParaRPr lang="en-IN"/>
        </a:p>
      </dgm:t>
    </dgm:pt>
    <dgm:pt modelId="{7E17DF5C-8152-468D-BC1A-0CED12103CBA}">
      <dgm:prSet/>
      <dgm:spPr/>
      <dgm:t>
        <a:bodyPr/>
        <a:lstStyle/>
        <a:p>
          <a:r>
            <a:rPr lang="en-US">
              <a:latin typeface="Times New Roman" panose="02020603050405020304" pitchFamily="18" charset="0"/>
              <a:cs typeface="Times New Roman" panose="02020603050405020304" pitchFamily="18" charset="0"/>
            </a:rPr>
            <a:t>Completion of the project/Internship and final report preparation and submission.</a:t>
          </a:r>
          <a:endParaRPr lang="en-IN" dirty="0">
            <a:latin typeface="Times New Roman" panose="02020603050405020304" pitchFamily="18" charset="0"/>
            <a:cs typeface="Times New Roman" panose="02020603050405020304" pitchFamily="18" charset="0"/>
          </a:endParaRPr>
        </a:p>
      </dgm:t>
    </dgm:pt>
    <dgm:pt modelId="{1F426CC2-D1D5-4C29-92AB-FA8BA4F80C9F}" type="parTrans" cxnId="{E4A6F11D-95EC-4D16-AEC0-010B668A4C00}">
      <dgm:prSet/>
      <dgm:spPr/>
      <dgm:t>
        <a:bodyPr/>
        <a:lstStyle/>
        <a:p>
          <a:endParaRPr lang="en-IN"/>
        </a:p>
      </dgm:t>
    </dgm:pt>
    <dgm:pt modelId="{BAD59E0E-47AE-4FA5-8FD8-24039AD77F53}" type="sibTrans" cxnId="{E4A6F11D-95EC-4D16-AEC0-010B668A4C00}">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DCD3100-390B-4896-92BC-EB8003D6999A}" type="presOf" srcId="{735E601C-9F4E-44C8-839F-069B96D6C723}" destId="{928B615F-0F8D-4140-A638-0FBB8F5BF1E9}" srcOrd="1" destOrd="0"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E4A6F11D-95EC-4D16-AEC0-010B668A4C00}" srcId="{65C051F6-A849-4495-A964-CD4C650B9C06}" destId="{7E17DF5C-8152-468D-BC1A-0CED12103CBA}" srcOrd="1" destOrd="0" parTransId="{1F426CC2-D1D5-4C29-92AB-FA8BA4F80C9F}" sibTransId="{BAD59E0E-47AE-4FA5-8FD8-24039AD77F53}"/>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72393F63-D5B3-41FB-B137-134C183DA2D4}" type="presOf" srcId="{7E17DF5C-8152-468D-BC1A-0CED12103CBA}" destId="{8CAE5A4D-0C7B-48A6-917B-0B8433D0574B}" srcOrd="0" destOrd="1" presId="urn:microsoft.com/office/officeart/2011/layout/InterconnectedBlockProcess"/>
    <dgm:cxn modelId="{D101B850-C426-49C6-9A0E-3D5AF3B94168}" type="presOf" srcId="{735E601C-9F4E-44C8-839F-069B96D6C723}" destId="{8CAE5A4D-0C7B-48A6-917B-0B8433D0574B}"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C164F855-98C3-4B50-9F4C-4A7E6179497D}" type="presOf" srcId="{7E17DF5C-8152-468D-BC1A-0CED12103CBA}" destId="{928B615F-0F8D-4140-A638-0FBB8F5BF1E9}" srcOrd="1" destOrd="1"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1310F797-55C7-44B9-8038-0BC0CDA8119E}" type="presOf" srcId="{963B51F8-1265-4536-96EC-70C9F59F6EA3}" destId="{98225A61-A0EC-450A-BED8-EF2E47E8FD18}" srcOrd="1" destOrd="0"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5394A6BF-3B27-4799-9E63-AD99AB3434A6}" type="presOf" srcId="{B451ADE3-4A33-4A44-839F-6D692216A623}" destId="{FC0F1314-3294-4A8C-8DCE-EB53E236164C}" srcOrd="0" destOrd="1" presId="urn:microsoft.com/office/officeart/2011/layout/InterconnectedBlockProcess"/>
    <dgm:cxn modelId="{BEE7EBC7-6DF9-44B6-BDBB-06194D4D2BF6}" srcId="{65C051F6-A849-4495-A964-CD4C650B9C06}" destId="{735E601C-9F4E-44C8-839F-069B96D6C723}" srcOrd="0" destOrd="0" parTransId="{38F7A8FB-D4FF-47AB-8153-0E274C0021B6}" sibTransId="{7C1F3B66-2E29-463E-8037-F5B0635CBB37}"/>
    <dgm:cxn modelId="{D1BA1DD0-A52A-47BF-962D-9810C87E1576}" srcId="{5751524B-FB67-4894-A0C5-35151E149D68}" destId="{A59EC69B-8F3F-425B-819F-E8C557946AEE}" srcOrd="2" destOrd="0" parTransId="{0095C3CB-916F-4060-A8DA-DD282FB51587}" sibTransId="{2868AD8D-4E38-46CE-A972-709857BF40AC}"/>
    <dgm:cxn modelId="{786AD3D1-F002-4ADA-9FD1-066AD9AA3B0B}" type="presOf" srcId="{963B51F8-1265-4536-96EC-70C9F59F6EA3}" destId="{FC0F1314-3294-4A8C-8DCE-EB53E236164C}" srcOrd="0" destOrd="0" presId="urn:microsoft.com/office/officeart/2011/layout/InterconnectedBlockProcess"/>
    <dgm:cxn modelId="{1D426CDF-5F18-49A4-8625-BE09427369F6}" srcId="{5E92505A-51E0-4F78-B3C5-704ACF8710DE}" destId="{963B51F8-1265-4536-96EC-70C9F59F6EA3}" srcOrd="0" destOrd="0" parTransId="{F955041A-7100-4A72-8099-43A21D8FCC94}" sibTransId="{D7552FB1-3BB2-482E-AB57-DF8A2C441B80}"/>
    <dgm:cxn modelId="{D95A05E5-1205-4AD1-9AA3-74CA7A4B9EF2}" type="presOf" srcId="{9FED87C4-3F3B-4A18-9185-9F80CFEDEA2E}" destId="{6BCCFBA6-7A43-4631-AD7F-AFB10E1E6CD7}" srcOrd="1" destOrd="0" presId="urn:microsoft.com/office/officeart/2011/layout/InterconnectedBlockProcess"/>
    <dgm:cxn modelId="{DCBB27E5-5EFA-4B52-A538-23D7B3292EA7}" type="presOf" srcId="{B451ADE3-4A33-4A44-839F-6D692216A623}" destId="{98225A61-A0EC-450A-BED8-EF2E47E8FD18}" srcOrd="1" destOrd="1" presId="urn:microsoft.com/office/officeart/2011/layout/InterconnectedBlockProcess"/>
    <dgm:cxn modelId="{F9365AE7-74C9-434E-8DDB-53C94E6DBE6E}" srcId="{5E92505A-51E0-4F78-B3C5-704ACF8710DE}" destId="{B451ADE3-4A33-4A44-839F-6D692216A623}" srcOrd="1" destOrd="0" parTransId="{7F154C3F-A59C-4592-9EC9-74AFFD8987D1}" sibTransId="{2D960CCA-22AD-4818-9639-6A9B3838DA3B}"/>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a:latin typeface="Times New Roman" panose="02020603050405020304" pitchFamily="18" charset="0"/>
              <a:cs typeface="Times New Roman" panose="02020603050405020304" pitchFamily="18" charset="0"/>
            </a:rPr>
            <a:t>Completion of the project/Internship and final report preparation and submission.</a:t>
          </a:r>
          <a:endParaRPr lang="en-IN" sz="1100" kern="1200"/>
        </a:p>
        <a:p>
          <a:pPr marL="0" lvl="0" indent="0" algn="r" defTabSz="488950">
            <a:lnSpc>
              <a:spcPct val="90000"/>
            </a:lnSpc>
            <a:spcBef>
              <a:spcPct val="0"/>
            </a:spcBef>
            <a:spcAft>
              <a:spcPct val="35000"/>
            </a:spcAft>
            <a:buNone/>
          </a:pPr>
          <a:r>
            <a:rPr lang="en-US" sz="1100" kern="1200">
              <a:latin typeface="Times New Roman" panose="02020603050405020304" pitchFamily="18" charset="0"/>
              <a:cs typeface="Times New Roman" panose="02020603050405020304" pitchFamily="18" charset="0"/>
            </a:rPr>
            <a:t>Completion of the project/Internship and final report preparation and submission.</a:t>
          </a:r>
          <a:endParaRPr lang="en-IN" sz="1100" kern="1200" dirty="0">
            <a:latin typeface="Times New Roman" panose="02020603050405020304" pitchFamily="18" charset="0"/>
            <a:cs typeface="Times New Roman" panose="02020603050405020304" pitchFamily="18" charset="0"/>
          </a:endParaRPr>
        </a:p>
      </dsp:txBody>
      <dsp:txXfrm>
        <a:off x="7335949" y="811639"/>
        <a:ext cx="1116055" cy="3246556"/>
      </dsp:txXfrm>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a:latin typeface="Times New Roman" panose="02020603050405020304" pitchFamily="18" charset="0"/>
              <a:cs typeface="Times New Roman" panose="02020603050405020304" pitchFamily="18" charset="0"/>
            </a:rPr>
            <a:t>Continuing on the team- based work/projects and process understanding &amp; implementation. </a:t>
          </a:r>
          <a:endParaRPr lang="en-IN" sz="1100" kern="1200"/>
        </a:p>
        <a:p>
          <a:pPr marL="0" lvl="0" indent="0" algn="r" defTabSz="488950">
            <a:lnSpc>
              <a:spcPct val="90000"/>
            </a:lnSpc>
            <a:spcBef>
              <a:spcPct val="0"/>
            </a:spcBef>
            <a:spcAft>
              <a:spcPct val="35000"/>
            </a:spcAft>
            <a:buNone/>
          </a:pPr>
          <a:r>
            <a:rPr lang="en-US" sz="1100" kern="1200">
              <a:latin typeface="Times New Roman" panose="02020603050405020304" pitchFamily="18" charset="0"/>
              <a:cs typeface="Times New Roman" panose="02020603050405020304" pitchFamily="18" charset="0"/>
            </a:rPr>
            <a:t>Continuing on the team- based work/projects and process understanding &amp; implementation. </a:t>
          </a:r>
          <a:endParaRPr lang="en-IN" sz="1100" kern="1200" dirty="0">
            <a:latin typeface="Times New Roman" panose="02020603050405020304" pitchFamily="18" charset="0"/>
            <a:cs typeface="Times New Roman" panose="02020603050405020304" pitchFamily="18" charset="0"/>
          </a:endParaRPr>
        </a:p>
      </dsp:txBody>
      <dsp:txXfrm>
        <a:off x="6060823" y="811639"/>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Working as a part of the team on the assigned tasks and projects accordingly.</a:t>
          </a: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Training on tools required for TTT Law processes and completing small guided tasks with hands on practical learning. </a:t>
          </a: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Onboarding and Orientation, Understanding company policies and team workflow</a:t>
          </a: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06/03/2026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06-03-2026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06-03-2026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06-03-2026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06-03-2026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06-03-2026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06-03-2026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06-03-2026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06-03-2026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06-03-2026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06-03-2026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06-03-2026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06-03-2026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harshithahaa/CSE7302_INTERNSHIP_ERNST-YOUNG_EY-GD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 </a:t>
            </a:r>
            <a:r>
              <a:rPr lang="en-GB" sz="1700" b="1" i="0" u="none" strike="noStrike" cap="none" dirty="0">
                <a:latin typeface="Cambria" panose="02040503050406030204" pitchFamily="18" charset="0"/>
                <a:ea typeface="Cambria" panose="02040503050406030204" pitchFamily="18" charset="0"/>
                <a:cs typeface="Verdana"/>
                <a:sym typeface="Verdana"/>
              </a:rPr>
              <a:t>Sumana Datta</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B. Tech (Information Science and Engineering)</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Gopal Krishna Shyam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Mr. Sreehari T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marL="0" marR="0" lvl="0" indent="0" rtl="0">
              <a:spcBef>
                <a:spcPts val="0"/>
              </a:spcBef>
              <a:spcAft>
                <a:spcPts val="0"/>
              </a:spcAft>
              <a:buClr>
                <a:srgbClr val="17365D"/>
              </a:buClr>
              <a:buSzPct val="100000"/>
              <a:buFont typeface="Arial"/>
              <a:buNone/>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Review-3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JOB TITLE – TAX TECHNOLOGY TRANSFORMATION (TTT)</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19181271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HARSHITHA 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20221ISE0077</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8ISE01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0"/>
            <a:ext cx="10515600" cy="4630555"/>
          </a:xfrm>
        </p:spPr>
        <p:txBody>
          <a:bodyPr>
            <a:normAutofit fontScale="92500"/>
          </a:bodyPr>
          <a:lstStyle/>
          <a:p>
            <a:pPr marL="0" lvl="0" indent="0" eaLnBrk="0" fontAlgn="base" hangingPunct="0">
              <a:lnSpc>
                <a:spcPct val="100000"/>
              </a:lnSpc>
              <a:spcBef>
                <a:spcPct val="0"/>
              </a:spcBef>
              <a:spcAft>
                <a:spcPct val="0"/>
              </a:spcAft>
              <a:buFontTx/>
              <a:buChar char="•"/>
            </a:pPr>
            <a:r>
              <a:rPr lang="en-US" altLang="en-US" dirty="0"/>
              <a:t>Ernst &amp; Young (EY) India is a leading professional services firm </a:t>
            </a:r>
          </a:p>
          <a:p>
            <a:pPr marL="0" lvl="0" indent="0" eaLnBrk="0" fontAlgn="base" hangingPunct="0">
              <a:lnSpc>
                <a:spcPct val="100000"/>
              </a:lnSpc>
              <a:spcBef>
                <a:spcPct val="0"/>
              </a:spcBef>
              <a:spcAft>
                <a:spcPct val="0"/>
              </a:spcAft>
              <a:buNone/>
            </a:pPr>
            <a:r>
              <a:rPr lang="en-US" altLang="en-US" dirty="0"/>
              <a:t> and part of the global EY network</a:t>
            </a:r>
          </a:p>
          <a:p>
            <a:pPr marL="0" lvl="0" indent="0" eaLnBrk="0" fontAlgn="base" hangingPunct="0">
              <a:lnSpc>
                <a:spcPct val="100000"/>
              </a:lnSpc>
              <a:spcBef>
                <a:spcPct val="0"/>
              </a:spcBef>
              <a:spcAft>
                <a:spcPct val="0"/>
              </a:spcAft>
              <a:buFontTx/>
              <a:buChar char="•"/>
            </a:pPr>
            <a:r>
              <a:rPr lang="en-US" altLang="en-US" dirty="0"/>
              <a:t>Provides services in assurance, consulting, tax, and strategy &amp;</a:t>
            </a:r>
          </a:p>
          <a:p>
            <a:pPr marL="0" lvl="0" indent="0" eaLnBrk="0" fontAlgn="base" hangingPunct="0">
              <a:lnSpc>
                <a:spcPct val="100000"/>
              </a:lnSpc>
              <a:spcBef>
                <a:spcPct val="0"/>
              </a:spcBef>
              <a:spcAft>
                <a:spcPct val="0"/>
              </a:spcAft>
              <a:buNone/>
            </a:pPr>
            <a:r>
              <a:rPr lang="en-US" altLang="en-US" dirty="0"/>
              <a:t> transactions across industries</a:t>
            </a:r>
          </a:p>
          <a:p>
            <a:pPr marL="0" lvl="0" indent="0" eaLnBrk="0" fontAlgn="base" hangingPunct="0">
              <a:lnSpc>
                <a:spcPct val="100000"/>
              </a:lnSpc>
              <a:spcBef>
                <a:spcPct val="0"/>
              </a:spcBef>
              <a:spcAft>
                <a:spcPct val="0"/>
              </a:spcAft>
              <a:buFontTx/>
              <a:buChar char="•"/>
            </a:pPr>
            <a:r>
              <a:rPr lang="en-US" altLang="en-US" dirty="0"/>
              <a:t>Uses advanced technologies such as data analytics, automation, </a:t>
            </a:r>
          </a:p>
          <a:p>
            <a:pPr marL="0" lvl="0" indent="0" eaLnBrk="0" fontAlgn="base" hangingPunct="0">
              <a:lnSpc>
                <a:spcPct val="100000"/>
              </a:lnSpc>
              <a:spcBef>
                <a:spcPct val="0"/>
              </a:spcBef>
              <a:spcAft>
                <a:spcPct val="0"/>
              </a:spcAft>
              <a:buNone/>
            </a:pPr>
            <a:r>
              <a:rPr lang="en-US" altLang="en-US" dirty="0"/>
              <a:t> and AI to deliver business solutions</a:t>
            </a:r>
          </a:p>
          <a:p>
            <a:pPr marL="0" lvl="0" indent="0" eaLnBrk="0" fontAlgn="base" hangingPunct="0">
              <a:lnSpc>
                <a:spcPct val="100000"/>
              </a:lnSpc>
              <a:spcBef>
                <a:spcPct val="0"/>
              </a:spcBef>
              <a:spcAft>
                <a:spcPct val="0"/>
              </a:spcAft>
              <a:buFontTx/>
              <a:buChar char="•"/>
            </a:pPr>
            <a:r>
              <a:rPr lang="en-US" altLang="en-US" dirty="0"/>
              <a:t>Focuses on digital transformation, risk management, and regulatory </a:t>
            </a:r>
          </a:p>
          <a:p>
            <a:pPr marL="0" lvl="0" indent="0" eaLnBrk="0" fontAlgn="base" hangingPunct="0">
              <a:lnSpc>
                <a:spcPct val="100000"/>
              </a:lnSpc>
              <a:spcBef>
                <a:spcPct val="0"/>
              </a:spcBef>
              <a:spcAft>
                <a:spcPct val="0"/>
              </a:spcAft>
              <a:buNone/>
            </a:pPr>
            <a:r>
              <a:rPr lang="en-US" altLang="en-US" dirty="0"/>
              <a:t> compliance</a:t>
            </a:r>
          </a:p>
          <a:p>
            <a:pPr marL="0" lvl="0" indent="0" eaLnBrk="0" fontAlgn="base" hangingPunct="0">
              <a:lnSpc>
                <a:spcPct val="100000"/>
              </a:lnSpc>
              <a:spcBef>
                <a:spcPct val="0"/>
              </a:spcBef>
              <a:spcAft>
                <a:spcPct val="0"/>
              </a:spcAft>
              <a:buFontTx/>
              <a:buChar char="•"/>
            </a:pPr>
            <a:r>
              <a:rPr lang="en-US" altLang="en-US" dirty="0"/>
              <a:t>Works with startups, large enterprises, and multinational organizations.</a:t>
            </a:r>
          </a:p>
          <a:p>
            <a:pPr marL="0" lvl="0" indent="0" eaLnBrk="0" fontAlgn="base" hangingPunct="0">
              <a:lnSpc>
                <a:spcPct val="100000"/>
              </a:lnSpc>
              <a:spcBef>
                <a:spcPct val="0"/>
              </a:spcBef>
              <a:spcAft>
                <a:spcPct val="0"/>
              </a:spcAft>
              <a:buFontTx/>
              <a:buChar char="•"/>
            </a:pPr>
            <a:r>
              <a:rPr lang="en-US" altLang="en-US" dirty="0"/>
              <a:t>Emphasizes professional development through structured training, </a:t>
            </a:r>
          </a:p>
          <a:p>
            <a:pPr marL="0" lvl="0" indent="0" eaLnBrk="0" fontAlgn="base" hangingPunct="0">
              <a:lnSpc>
                <a:spcPct val="100000"/>
              </a:lnSpc>
              <a:spcBef>
                <a:spcPct val="0"/>
              </a:spcBef>
              <a:spcAft>
                <a:spcPct val="0"/>
              </a:spcAft>
              <a:buNone/>
            </a:pPr>
            <a:r>
              <a:rPr lang="en-US" altLang="en-US" dirty="0"/>
              <a:t> mentorship, and real-world client exposure</a:t>
            </a:r>
            <a:r>
              <a:rPr lang="en-US" altLang="en-US" dirty="0">
                <a:cs typeface="Times New Roman" panose="02020603050405020304" pitchFamily="18" charset="0"/>
              </a:rPr>
              <a:t>.</a:t>
            </a:r>
            <a:endParaRPr lang="en-US" alt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6"/>
            <a:ext cx="10515600" cy="4317799"/>
          </a:xfrm>
        </p:spPr>
        <p:txBody>
          <a:bodyPr>
            <a:normAutofit fontScale="92500" lnSpcReduction="20000"/>
          </a:bodyPr>
          <a:lstStyle/>
          <a:p>
            <a:r>
              <a:rPr lang="en-US" dirty="0"/>
              <a:t>My working domain is </a:t>
            </a:r>
            <a:r>
              <a:rPr lang="en-US" b="1" dirty="0"/>
              <a:t>Tax Technology Transformation (TTT) – LAW competency</a:t>
            </a:r>
            <a:r>
              <a:rPr lang="en-US" dirty="0"/>
              <a:t> at EY Global Delivery Services, which focuses on modernizing and digitizing tax-related processes using technology. </a:t>
            </a:r>
          </a:p>
          <a:p>
            <a:r>
              <a:rPr lang="en-US" dirty="0"/>
              <a:t>In this domain, I work at the intersection of tax, technology, and business, helping teams improve efficiency, accuracy, and compliance through tools and platforms.</a:t>
            </a:r>
          </a:p>
          <a:p>
            <a:r>
              <a:rPr lang="en-US" dirty="0"/>
              <a:t> The role involves supporting the implementation and optimization of systems such as contract lifecycle management (CLM), ELM, data analytics, and automation solutions.</a:t>
            </a:r>
          </a:p>
          <a:p>
            <a:r>
              <a:rPr lang="en-US" dirty="0"/>
              <a:t> I also collaborate with cross-functional teams to understand requirements, streamline workflows, and enhance user experience. Overall, my domain plays a key role in transforming traditional tax functions into agile, technology-driven operations that deliver greater value to clients.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r>
              <a:rPr lang="en-US" dirty="0"/>
              <a:t>My team is part of the </a:t>
            </a:r>
            <a:r>
              <a:rPr lang="en-US" b="1" dirty="0"/>
              <a:t>Tax Technology Transformation (TTT LAW)</a:t>
            </a:r>
            <a:r>
              <a:rPr lang="en-US" dirty="0"/>
              <a:t> domain at EY GDS, where we work collaboratively to support technology-driven improvements in tax and compliance processes. </a:t>
            </a:r>
          </a:p>
          <a:p>
            <a:r>
              <a:rPr lang="en-US" dirty="0"/>
              <a:t>The team focuses on learning and contributing to tools, platforms, and workflows that enhance efficiency, accuracy, and standardization across engagements. </a:t>
            </a:r>
          </a:p>
          <a:p>
            <a:r>
              <a:rPr lang="en-US" dirty="0"/>
              <a:t>We operate in a supportive and knowledge-sharing environment, where guidance and collaboration are encouraged. </a:t>
            </a:r>
          </a:p>
          <a:p>
            <a:r>
              <a:rPr lang="en-US" dirty="0"/>
              <a:t>My Reporting Manager/Counsellor, </a:t>
            </a:r>
            <a:r>
              <a:rPr lang="en-US" b="1" dirty="0"/>
              <a:t>Ms. Soni Kumari </a:t>
            </a:r>
            <a:r>
              <a:rPr lang="en-US" dirty="0"/>
              <a:t>provides clear direction, regular feedback, and mentorship, helping me understand both the technical and business aspects of our work.</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US" dirty="0"/>
              <a:t>Initial difficulty in adapting to a professional, industry-oriented work environment.</a:t>
            </a:r>
          </a:p>
          <a:p>
            <a:r>
              <a:rPr lang="en-US" dirty="0"/>
              <a:t>Understanding project requirements, tools, and workflows within a limited timeframe. </a:t>
            </a:r>
          </a:p>
          <a:p>
            <a:r>
              <a:rPr lang="en-US" dirty="0"/>
              <a:t>Balancing internship responsibilities alongside academic commitments.</a:t>
            </a:r>
          </a:p>
          <a:p>
            <a:r>
              <a:rPr lang="en-US" dirty="0"/>
              <a:t>Getting familiar with technologies such as DocuSign, Onit, Agiloft, Sirion etc. used.</a:t>
            </a:r>
          </a:p>
          <a:p>
            <a:r>
              <a:rPr lang="en-US" dirty="0"/>
              <a:t>Adjusting to structured reporting, reviews, and performance expectations.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US" dirty="0"/>
              <a:t>To understand real-world project workflows and development processes.</a:t>
            </a:r>
          </a:p>
          <a:p>
            <a:r>
              <a:rPr lang="en-US" altLang="en-US" dirty="0"/>
              <a:t>To assist teams in delivering high-quality, compliant, and timely outcomes for clients.</a:t>
            </a:r>
          </a:p>
          <a:p>
            <a:r>
              <a:rPr lang="en-US" altLang="en-US" dirty="0"/>
              <a:t>To bridge the gap between technical implementation and business requirements.</a:t>
            </a:r>
          </a:p>
          <a:p>
            <a:r>
              <a:rPr lang="en-US" dirty="0"/>
              <a:t>To learn and apply tools, platforms, and processes used in tax and compliance operations.</a:t>
            </a:r>
          </a:p>
          <a:p>
            <a:r>
              <a:rPr lang="en-US" dirty="0"/>
              <a:t>To gain practical exposure to real-world enterprise systems and corporate practices.</a:t>
            </a:r>
            <a:endParaRPr lang="en-US" altLang="en-US" dirty="0"/>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6"/>
            <a:ext cx="10515600" cy="4380861"/>
          </a:xfrm>
        </p:spPr>
        <p:txBody>
          <a:bodyPr>
            <a:normAutofit fontScale="85000" lnSpcReduction="20000"/>
          </a:bodyPr>
          <a:lstStyle/>
          <a:p>
            <a:r>
              <a:rPr lang="en-US" dirty="0"/>
              <a:t>Tax Technology Transformation (TTT) focuses on using technology to modernize traditional tax and legal processes. Existing studies highlight the increasing use of automation, cloud-based platforms, and data analytics to improve efficiency, accuracy, and regulatory compliance. Manual and document-heavy processes are often associated with higher risks, delays, and lack of transparency, which has driven organizations toward digital solutions.</a:t>
            </a:r>
          </a:p>
          <a:p>
            <a:r>
              <a:rPr lang="en-US" dirty="0"/>
              <a:t>Literature on Contract Lifecycle Management (CLM) systems explains how centralized contract repositories and workflow automation support better contract governance and compliance. </a:t>
            </a:r>
          </a:p>
          <a:p>
            <a:r>
              <a:rPr lang="en-US" dirty="0"/>
              <a:t>Research also emphasizes the role of emerging technologies such as rule-based automation and artificial intelligence in contract review, risk identification, and decision-making. </a:t>
            </a:r>
          </a:p>
          <a:p>
            <a:r>
              <a:rPr lang="en-US" dirty="0"/>
              <a:t>Overall, studies conclude that TTT in the legal domain enables proactive compliance and improved operational efficiency, while also noting challenges related to system integration, data security, and user adoption.</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49785"/>
          </a:xfrm>
        </p:spPr>
        <p:txBody>
          <a:bodyPr>
            <a:normAutofit fontScale="77500" lnSpcReduction="20000"/>
          </a:bodyPr>
          <a:lstStyle/>
          <a:p>
            <a:r>
              <a:rPr lang="en-US" dirty="0"/>
              <a:t>The proposed system focuses on supporting </a:t>
            </a:r>
            <a:r>
              <a:rPr lang="en-US" b="1" dirty="0"/>
              <a:t>Tax Technology Transformation in the legal domain</a:t>
            </a:r>
            <a:r>
              <a:rPr lang="en-US" dirty="0"/>
              <a:t> through the use of modern Contract Lifecycle Management (CLM) and digital workflow tools. This system aims to replace manual, email-driven, and document-centric processes with automated, centralized, and auditable platforms.</a:t>
            </a:r>
          </a:p>
          <a:p>
            <a:r>
              <a:rPr lang="en-US" dirty="0"/>
              <a:t>As part of the proposed work, training and hands-on exposure are provided on tools such as </a:t>
            </a:r>
            <a:r>
              <a:rPr lang="en-US" b="1" dirty="0"/>
              <a:t>DocuSign, Onit, Agiloft, and Sirion</a:t>
            </a:r>
            <a:r>
              <a:rPr lang="en-US" dirty="0"/>
              <a:t>, which are used to manage contracts, approvals, obligations, and compliance workflows. These platforms enable features such as digital contract creation, clause management, automated approvals, electronic signatures, and lifecycle tracking from contract initiation to execution and renewal.</a:t>
            </a:r>
          </a:p>
          <a:p>
            <a:r>
              <a:rPr lang="en-US" dirty="0"/>
              <a:t>The proposed system improves </a:t>
            </a:r>
            <a:r>
              <a:rPr lang="en-US" b="1" dirty="0"/>
              <a:t>efficiency, accuracy, and compliance</a:t>
            </a:r>
            <a:r>
              <a:rPr lang="en-US" dirty="0"/>
              <a:t> by reducing manual intervention and ensuring standardized processes. It also enhances visibility and collaboration among tax, legal, and business teams through centralized data and real-time tracking. Overall, the proposed work supports EY’s objective of delivering scalable, technology-driven legal and tax solutions to global clients.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normAutofit fontScale="77500" lnSpcReduction="20000"/>
          </a:bodyPr>
          <a:lstStyle/>
          <a:p>
            <a:r>
              <a:rPr lang="en-US" dirty="0"/>
              <a:t>Many organizations require </a:t>
            </a:r>
            <a:r>
              <a:rPr lang="en-US" b="1" dirty="0"/>
              <a:t>multiple approvals for documents</a:t>
            </a:r>
            <a:r>
              <a:rPr lang="en-US" dirty="0"/>
              <a:t> such as contracts, employee updates, or internal requests. Traditionally, these approvals are handled through </a:t>
            </a:r>
            <a:r>
              <a:rPr lang="en-US" b="1" dirty="0"/>
              <a:t>emails or manual signatures</a:t>
            </a:r>
            <a:r>
              <a:rPr lang="en-US" dirty="0"/>
              <a:t>, which creates several issues:</a:t>
            </a:r>
          </a:p>
          <a:p>
            <a:r>
              <a:rPr lang="en-US" dirty="0"/>
              <a:t>Delays in getting approvals from different stakeholders</a:t>
            </a:r>
          </a:p>
          <a:p>
            <a:r>
              <a:rPr lang="en-US" dirty="0"/>
              <a:t>Difficulty in tracking the document status</a:t>
            </a:r>
          </a:p>
          <a:p>
            <a:r>
              <a:rPr lang="en-US" dirty="0"/>
              <a:t>Risk of document loss or version confusion</a:t>
            </a:r>
          </a:p>
          <a:p>
            <a:r>
              <a:rPr lang="en-US" dirty="0"/>
              <a:t>Lack of transparency in the approval process</a:t>
            </a:r>
          </a:p>
          <a:p>
            <a:r>
              <a:rPr lang="en-US" dirty="0"/>
              <a:t>To solve these issues, organizations implement </a:t>
            </a:r>
            <a:r>
              <a:rPr lang="en-US" b="1" dirty="0"/>
              <a:t>digital workflow automation using platforms like DocuSign</a:t>
            </a:r>
            <a:r>
              <a:rPr lang="en-US" dirty="0"/>
              <a:t>, which allows documents to move automatically through predefined approval stages.</a:t>
            </a:r>
          </a:p>
          <a:p>
            <a:r>
              <a:rPr lang="en-US" b="1" dirty="0"/>
              <a:t>Objective:</a:t>
            </a:r>
            <a:br>
              <a:rPr lang="en-US" dirty="0"/>
            </a:br>
            <a:r>
              <a:rPr lang="en-US" dirty="0"/>
              <a:t>To design and implement a </a:t>
            </a:r>
            <a:r>
              <a:rPr lang="en-US" b="1" dirty="0"/>
              <a:t>General Approval Workflow</a:t>
            </a:r>
            <a:r>
              <a:rPr lang="en-US" dirty="0"/>
              <a:t> that automates document approval processes, ensures faster processing, and provides real-time tracking.</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rmAutofit fontScale="77500" lnSpcReduction="20000"/>
          </a:bodyPr>
          <a:lstStyle/>
          <a:p>
            <a:r>
              <a:rPr lang="en-US" b="1" dirty="0"/>
              <a:t>Software Requirements</a:t>
            </a:r>
          </a:p>
          <a:p>
            <a:r>
              <a:rPr lang="en-US" dirty="0"/>
              <a:t>DocuSign platform</a:t>
            </a:r>
          </a:p>
          <a:p>
            <a:r>
              <a:rPr lang="en-US" dirty="0"/>
              <a:t>Web browser (Chrome / Edge)</a:t>
            </a:r>
          </a:p>
          <a:p>
            <a:r>
              <a:rPr lang="en-US" dirty="0"/>
              <a:t>Internet connectivity</a:t>
            </a:r>
          </a:p>
          <a:p>
            <a:r>
              <a:rPr lang="en-US" dirty="0"/>
              <a:t>Access to DocuSign workflow configuration tools</a:t>
            </a:r>
          </a:p>
          <a:p>
            <a:r>
              <a:rPr lang="en-US" b="1" dirty="0"/>
              <a:t>Functional Requirements</a:t>
            </a:r>
          </a:p>
          <a:p>
            <a:r>
              <a:rPr lang="en-US" dirty="0"/>
              <a:t>Ability to upload documents for approval</a:t>
            </a:r>
          </a:p>
          <a:p>
            <a:r>
              <a:rPr lang="en-US" dirty="0"/>
              <a:t>Define multiple approvers in a workflow</a:t>
            </a:r>
          </a:p>
          <a:p>
            <a:r>
              <a:rPr lang="en-US" dirty="0"/>
              <a:t>Automated document routing to the next approver</a:t>
            </a:r>
          </a:p>
          <a:p>
            <a:r>
              <a:rPr lang="en-US" dirty="0"/>
              <a:t>Email notifications for approval requests</a:t>
            </a:r>
          </a:p>
          <a:p>
            <a:r>
              <a:rPr lang="en-US" dirty="0"/>
              <a:t>Status tracking for documents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12869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US" dirty="0"/>
              <a:t>Implementing the </a:t>
            </a:r>
            <a:r>
              <a:rPr lang="en-US" b="1" dirty="0"/>
              <a:t>General Approval Flow</a:t>
            </a:r>
            <a:r>
              <a:rPr lang="en-US" dirty="0"/>
              <a:t> provides several advantages:</a:t>
            </a:r>
          </a:p>
          <a:p>
            <a:r>
              <a:rPr lang="en-US" b="1" dirty="0"/>
              <a:t>Automation:</a:t>
            </a:r>
            <a:r>
              <a:rPr lang="en-US" dirty="0"/>
              <a:t> Reduces manual effort by automatically routing documents to approvers</a:t>
            </a:r>
          </a:p>
          <a:p>
            <a:r>
              <a:rPr lang="en-US" b="1" dirty="0"/>
              <a:t>Faster Approvals:</a:t>
            </a:r>
            <a:r>
              <a:rPr lang="en-US" dirty="0"/>
              <a:t> Documents reach the right person instantly</a:t>
            </a:r>
          </a:p>
          <a:p>
            <a:r>
              <a:rPr lang="en-US" b="1" dirty="0"/>
              <a:t>Transparency:</a:t>
            </a:r>
            <a:r>
              <a:rPr lang="en-US" dirty="0"/>
              <a:t> Users can track document status in real time</a:t>
            </a:r>
          </a:p>
          <a:p>
            <a:r>
              <a:rPr lang="en-US" b="1" dirty="0"/>
              <a:t>Security:</a:t>
            </a:r>
            <a:r>
              <a:rPr lang="en-US" dirty="0"/>
              <a:t> Ensures controlled access to documents</a:t>
            </a:r>
          </a:p>
          <a:p>
            <a:r>
              <a:rPr lang="en-US" b="1" dirty="0"/>
              <a:t>Audit Trail:</a:t>
            </a:r>
            <a:r>
              <a:rPr lang="en-US" dirty="0"/>
              <a:t> Maintains a record of all actions taken on the document</a:t>
            </a:r>
          </a:p>
          <a:p>
            <a:r>
              <a:rPr lang="en-US" b="1" dirty="0"/>
              <a:t>Efficiency:</a:t>
            </a:r>
            <a:r>
              <a:rPr lang="en-US" dirty="0"/>
              <a:t> Improves productivity and reduces processing time</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224665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3" name="Content Placeholder 2"/>
          <p:cNvSpPr>
            <a:spLocks noGrp="1"/>
          </p:cNvSpPr>
          <p:nvPr>
            <p:ph idx="1"/>
          </p:nvPr>
        </p:nvSpPr>
        <p:spPr>
          <a:xfrm>
            <a:off x="838200" y="1184366"/>
            <a:ext cx="10515600" cy="4554281"/>
          </a:xfrm>
        </p:spPr>
        <p:txBody>
          <a:bodyPr>
            <a:normAutofit fontScale="55000" lnSpcReduction="20000"/>
          </a:bodyPr>
          <a:lstStyle/>
          <a:p>
            <a:r>
              <a:rPr lang="en-US" b="1" dirty="0"/>
              <a:t>Components</a:t>
            </a:r>
          </a:p>
          <a:p>
            <a:r>
              <a:rPr lang="en-US" b="1" dirty="0"/>
              <a:t>1. User/Initiator</a:t>
            </a:r>
            <a:endParaRPr lang="en-US" dirty="0"/>
          </a:p>
          <a:p>
            <a:r>
              <a:rPr lang="en-US" dirty="0"/>
              <a:t>Uploads the document</a:t>
            </a:r>
          </a:p>
          <a:p>
            <a:r>
              <a:rPr lang="en-US" dirty="0"/>
              <a:t>Starts the approval workflow</a:t>
            </a:r>
          </a:p>
          <a:p>
            <a:r>
              <a:rPr lang="en-US" b="1" dirty="0"/>
              <a:t>2. Workflow Engine</a:t>
            </a:r>
            <a:endParaRPr lang="en-US" dirty="0"/>
          </a:p>
          <a:p>
            <a:r>
              <a:rPr lang="en-US" dirty="0"/>
              <a:t>Controls document routing</a:t>
            </a:r>
          </a:p>
          <a:p>
            <a:r>
              <a:rPr lang="en-US" dirty="0"/>
              <a:t>Determines which approver receives the document</a:t>
            </a:r>
          </a:p>
          <a:p>
            <a:r>
              <a:rPr lang="en-US" b="1" dirty="0"/>
              <a:t>3. Approvers</a:t>
            </a:r>
            <a:endParaRPr lang="en-US" dirty="0"/>
          </a:p>
          <a:p>
            <a:r>
              <a:rPr lang="en-US" dirty="0"/>
              <a:t>Review the document</a:t>
            </a:r>
          </a:p>
          <a:p>
            <a:r>
              <a:rPr lang="en-US" dirty="0"/>
              <a:t>Approve or reject based on requirements</a:t>
            </a:r>
          </a:p>
          <a:p>
            <a:r>
              <a:rPr lang="en-US" b="1" dirty="0"/>
              <a:t>4. Notification System</a:t>
            </a:r>
            <a:endParaRPr lang="en-US" dirty="0"/>
          </a:p>
          <a:p>
            <a:r>
              <a:rPr lang="en-US" dirty="0"/>
              <a:t>Sends automated email alerts to approvers</a:t>
            </a:r>
          </a:p>
          <a:p>
            <a:r>
              <a:rPr lang="en-US" b="1" dirty="0"/>
              <a:t>5. Audit &amp; Tracking Module</a:t>
            </a:r>
            <a:endParaRPr lang="en-US" dirty="0"/>
          </a:p>
          <a:p>
            <a:r>
              <a:rPr lang="en-US" dirty="0"/>
              <a:t>Tracks document status</a:t>
            </a:r>
          </a:p>
          <a:p>
            <a:r>
              <a:rPr lang="en-US" dirty="0"/>
              <a:t>Maintains approval history</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36543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least 50%)</a:t>
            </a:r>
          </a:p>
        </p:txBody>
      </p:sp>
      <p:sp>
        <p:nvSpPr>
          <p:cNvPr id="3" name="Content Placeholder 2"/>
          <p:cNvSpPr>
            <a:spLocks noGrp="1"/>
          </p:cNvSpPr>
          <p:nvPr>
            <p:ph idx="1"/>
          </p:nvPr>
        </p:nvSpPr>
        <p:spPr>
          <a:xfrm>
            <a:off x="838200" y="1184367"/>
            <a:ext cx="10515600" cy="4286268"/>
          </a:xfrm>
        </p:spPr>
        <p:txBody>
          <a:bodyPr>
            <a:normAutofit fontScale="70000" lnSpcReduction="20000"/>
          </a:bodyPr>
          <a:lstStyle/>
          <a:p>
            <a:r>
              <a:rPr lang="en-US" dirty="0"/>
              <a:t>The General Approval Flow was implemented using the features available in DocuSign.</a:t>
            </a:r>
          </a:p>
          <a:p>
            <a:r>
              <a:rPr lang="en-US" b="1" dirty="0"/>
              <a:t>Implementation Steps</a:t>
            </a:r>
          </a:p>
          <a:p>
            <a:r>
              <a:rPr lang="en-US" b="1" dirty="0"/>
              <a:t>Workflow Creation</a:t>
            </a:r>
            <a:endParaRPr lang="en-US" dirty="0"/>
          </a:p>
          <a:p>
            <a:pPr lvl="1"/>
            <a:r>
              <a:rPr lang="en-US" dirty="0"/>
              <a:t>A general approval workflow was configured in the DocuSign platform.</a:t>
            </a:r>
          </a:p>
          <a:p>
            <a:r>
              <a:rPr lang="en-US" b="1" dirty="0"/>
              <a:t>Defining Approvers</a:t>
            </a:r>
            <a:endParaRPr lang="en-US" dirty="0"/>
          </a:p>
          <a:p>
            <a:pPr lvl="1"/>
            <a:r>
              <a:rPr lang="en-US" dirty="0"/>
              <a:t>Multiple approvers were assigned based on organizational hierarchy.</a:t>
            </a:r>
          </a:p>
          <a:p>
            <a:r>
              <a:rPr lang="en-US" b="1" dirty="0"/>
              <a:t>Document Routing Logic</a:t>
            </a:r>
            <a:endParaRPr lang="en-US" dirty="0"/>
          </a:p>
          <a:p>
            <a:pPr lvl="1"/>
            <a:r>
              <a:rPr lang="en-US" dirty="0"/>
              <a:t>Rules were configured to automatically send the document to the next approver.</a:t>
            </a:r>
          </a:p>
          <a:p>
            <a:r>
              <a:rPr lang="en-US" b="1" dirty="0"/>
              <a:t>Notification Setup</a:t>
            </a:r>
            <a:endParaRPr lang="en-US" dirty="0"/>
          </a:p>
          <a:p>
            <a:pPr lvl="1"/>
            <a:r>
              <a:rPr lang="en-US" dirty="0"/>
              <a:t>Automated email notifications were enabled to alert users when action is required.</a:t>
            </a:r>
          </a:p>
          <a:p>
            <a:r>
              <a:rPr lang="en-US" b="1" dirty="0"/>
              <a:t>Testing the Workflow</a:t>
            </a:r>
            <a:endParaRPr lang="en-US" dirty="0"/>
          </a:p>
          <a:p>
            <a:pPr lvl="1"/>
            <a:r>
              <a:rPr lang="en-US" dirty="0"/>
              <a:t>The workflow was tested to ensure documents moved correctly between approvers.</a:t>
            </a:r>
          </a:p>
          <a:p>
            <a:r>
              <a:rPr lang="en-US" b="1" dirty="0"/>
              <a:t>Execution</a:t>
            </a:r>
            <a:endParaRPr lang="en-US" dirty="0"/>
          </a:p>
          <a:p>
            <a:pPr lvl="1"/>
            <a:r>
              <a:rPr lang="en-US" dirty="0"/>
              <a:t>Documents were successfully processed through the approval flow.</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2202617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245406591"/>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sz="2400" dirty="0"/>
              <a:t>To access the </a:t>
            </a:r>
            <a:r>
              <a:rPr lang="en-US" sz="2400" dirty="0" err="1"/>
              <a:t>Github</a:t>
            </a:r>
            <a:r>
              <a:rPr lang="en-US" sz="2400" dirty="0"/>
              <a:t> Repository, click on the hyperlink below:</a:t>
            </a:r>
          </a:p>
          <a:p>
            <a:pPr marL="457200" lvl="1" indent="0">
              <a:buNone/>
            </a:pPr>
            <a:r>
              <a:rPr lang="en-US" dirty="0">
                <a:hlinkClick r:id="rId2"/>
              </a:rPr>
              <a:t>Harshitha V – Internship at </a:t>
            </a:r>
            <a:r>
              <a:rPr lang="en-US" dirty="0" err="1">
                <a:hlinkClick r:id="rId2"/>
              </a:rPr>
              <a:t>Ernst&amp;Young</a:t>
            </a:r>
            <a:r>
              <a:rPr lang="en-US" dirty="0">
                <a:hlinkClick r:id="rId2"/>
              </a:rPr>
              <a:t> (EYGDS)</a:t>
            </a:r>
            <a:endParaRPr lang="en-US" dirty="0"/>
          </a:p>
          <a:p>
            <a:pPr marL="0" indent="0">
              <a:buNone/>
            </a:pPr>
            <a:endParaRPr lang="en-US" sz="2400" dirty="0"/>
          </a:p>
          <a:p>
            <a:pPr marL="0" indent="0">
              <a:buNone/>
            </a:pPr>
            <a:r>
              <a:rPr lang="en-US" sz="2400" dirty="0"/>
              <a:t>Or </a:t>
            </a:r>
          </a:p>
          <a:p>
            <a:pPr marL="0" indent="0">
              <a:buNone/>
            </a:pPr>
            <a:endParaRPr lang="en-US" sz="2400" dirty="0"/>
          </a:p>
          <a:p>
            <a:r>
              <a:rPr lang="en-US" sz="2400" dirty="0"/>
              <a:t>Find it in the below address: https://github.com/harshithahaa/CSE7302_INTERNSHIP_ERNST-YOUNG_EY-GDS</a:t>
            </a:r>
          </a:p>
          <a:p>
            <a:pPr marL="0" indent="0">
              <a:buNone/>
            </a:pPr>
            <a:endParaRPr lang="en-US" dirty="0"/>
          </a:p>
        </p:txBody>
      </p:sp>
    </p:spTree>
    <p:extLst>
      <p:ext uri="{BB962C8B-B14F-4D97-AF65-F5344CB8AC3E}">
        <p14:creationId xmlns:p14="http://schemas.microsoft.com/office/powerpoint/2010/main" val="295621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17</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7108</TotalTime>
  <Words>1581</Words>
  <Application>Microsoft Office PowerPoint</Application>
  <PresentationFormat>Widescreen</PresentationFormat>
  <Paragraphs>176</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(At least 50%)</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Harshitha V</dc:creator>
  <cp:lastModifiedBy>HARSHITHA V</cp:lastModifiedBy>
  <cp:revision>721</cp:revision>
  <dcterms:created xsi:type="dcterms:W3CDTF">2022-10-14T07:18:17Z</dcterms:created>
  <dcterms:modified xsi:type="dcterms:W3CDTF">2026-03-06T02:31:57Z</dcterms:modified>
</cp:coreProperties>
</file>