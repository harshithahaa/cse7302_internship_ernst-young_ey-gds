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9" r:id="rId2"/>
    <p:sldId id="270" r:id="rId3"/>
    <p:sldId id="261" r:id="rId4"/>
    <p:sldId id="262" r:id="rId5"/>
    <p:sldId id="263" r:id="rId6"/>
    <p:sldId id="264" r:id="rId7"/>
    <p:sldId id="265" r:id="rId8"/>
    <p:sldId id="271" r:id="rId9"/>
    <p:sldId id="272" r:id="rId10"/>
    <p:sldId id="27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2BE31D-A805-4374-A802-C65F02E28BCD}" v="23" dt="2024-12-11T08:31:31.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4" autoAdjust="0"/>
    <p:restoredTop sz="94660"/>
  </p:normalViewPr>
  <p:slideViewPr>
    <p:cSldViewPr snapToGrid="0">
      <p:cViewPr varScale="1">
        <p:scale>
          <a:sx n="85" d="100"/>
          <a:sy n="85" d="100"/>
        </p:scale>
        <p:origin x="70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phldr="0" custT="1"/>
      <dgm:spPr/>
      <dgm:t>
        <a:bodyPr/>
        <a:lstStyle/>
        <a:p>
          <a:r>
            <a:rPr lang="en-US" sz="1400" dirty="0">
              <a:latin typeface="Times New Roman" panose="02020603050405020304" pitchFamily="18" charset="0"/>
              <a:cs typeface="Times New Roman" panose="02020603050405020304" pitchFamily="18" charset="0"/>
            </a:rPr>
            <a:t>Onboarding and Orientation, Understanding company policies and team workflow</a:t>
          </a:r>
          <a:r>
            <a:rPr lang="en-US" sz="1300" dirty="0">
              <a:latin typeface="Times New Roman" panose="02020603050405020304" pitchFamily="18" charset="0"/>
              <a:cs typeface="Times New Roman" panose="02020603050405020304" pitchFamily="18" charset="0"/>
            </a:rPr>
            <a:t>.</a:t>
          </a: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phldr="0" custT="1"/>
      <dgm:spPr/>
      <dgm:t>
        <a:bodyPr/>
        <a:lstStyle/>
        <a:p>
          <a:r>
            <a:rPr lang="en-US" sz="1400" dirty="0">
              <a:latin typeface="Times New Roman" panose="02020603050405020304" pitchFamily="18" charset="0"/>
              <a:cs typeface="Times New Roman" panose="02020603050405020304" pitchFamily="18" charset="0"/>
            </a:rPr>
            <a:t>Training on tools required for TTT Law processes and completing small guided tasks with hands on practical learning</a:t>
          </a:r>
          <a:r>
            <a:rPr lang="en-US" sz="1300" dirty="0">
              <a:latin typeface="Times New Roman" panose="02020603050405020304" pitchFamily="18" charset="0"/>
              <a:cs typeface="Times New Roman" panose="02020603050405020304" pitchFamily="18" charset="0"/>
            </a:rPr>
            <a:t>. </a:t>
          </a: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phldr="0" custT="1"/>
      <dgm:spPr/>
      <dgm:t>
        <a:bodyPr/>
        <a:lstStyle/>
        <a:p>
          <a:r>
            <a:rPr lang="en-US" sz="1400" dirty="0">
              <a:latin typeface="Times New Roman" panose="02020603050405020304" pitchFamily="18" charset="0"/>
              <a:cs typeface="Times New Roman" panose="02020603050405020304" pitchFamily="18" charset="0"/>
            </a:rPr>
            <a:t>Working as a part of the team on the assigned tasks and projects accordingly</a:t>
          </a:r>
          <a:r>
            <a:rPr lang="en-US" sz="1300" dirty="0">
              <a:latin typeface="Times New Roman" panose="02020603050405020304" pitchFamily="18" charset="0"/>
              <a:cs typeface="Times New Roman" panose="02020603050405020304" pitchFamily="18" charset="0"/>
            </a:rPr>
            <a:t>.</a:t>
          </a: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EC821DEC-898D-4C5A-884E-F3DA7D181C45}">
      <dgm:prSet custT="1"/>
      <dgm:spPr/>
      <dgm:t>
        <a:bodyPr/>
        <a:lstStyle/>
        <a:p>
          <a:r>
            <a:rPr lang="en-US" sz="1400" dirty="0">
              <a:latin typeface="Times New Roman" panose="02020603050405020304" pitchFamily="18" charset="0"/>
              <a:cs typeface="Times New Roman" panose="02020603050405020304" pitchFamily="18" charset="0"/>
            </a:rPr>
            <a:t>Continuing on the team- based work/projects and process understanding &amp; implementation</a:t>
          </a:r>
          <a:r>
            <a:rPr lang="en-US" sz="1200" dirty="0">
              <a:latin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dgm:t>
    </dgm:pt>
    <dgm:pt modelId="{425133CF-D240-4952-B7FA-9D0AB245C602}" type="parTrans" cxnId="{A207B0B4-E45E-43BA-9F40-BD8C7EF04080}">
      <dgm:prSet/>
      <dgm:spPr/>
      <dgm:t>
        <a:bodyPr/>
        <a:lstStyle/>
        <a:p>
          <a:endParaRPr lang="en-IN"/>
        </a:p>
      </dgm:t>
    </dgm:pt>
    <dgm:pt modelId="{AE7D6FD3-DC47-4918-B43B-A598C2B3EE73}" type="sibTrans" cxnId="{A207B0B4-E45E-43BA-9F40-BD8C7EF04080}">
      <dgm:prSet/>
      <dgm:spPr/>
      <dgm:t>
        <a:bodyPr/>
        <a:lstStyle/>
        <a:p>
          <a:endParaRPr lang="en-IN"/>
        </a:p>
      </dgm:t>
    </dgm:pt>
    <dgm:pt modelId="{6F449608-2E71-49EA-AE99-5A6185B26E90}">
      <dgm:prSet custT="1"/>
      <dgm:spPr/>
      <dgm:t>
        <a:bodyPr/>
        <a:lstStyle/>
        <a:p>
          <a:r>
            <a:rPr lang="en-US" sz="1400" dirty="0">
              <a:latin typeface="Times New Roman" panose="02020603050405020304" pitchFamily="18" charset="0"/>
              <a:cs typeface="Times New Roman" panose="02020603050405020304" pitchFamily="18" charset="0"/>
            </a:rPr>
            <a:t>Completion of the project/Internship and final report preparation and submission.</a:t>
          </a:r>
          <a:endParaRPr lang="en-IN" sz="1400" dirty="0">
            <a:latin typeface="Times New Roman" panose="02020603050405020304" pitchFamily="18" charset="0"/>
            <a:cs typeface="Times New Roman" panose="02020603050405020304" pitchFamily="18" charset="0"/>
          </a:endParaRPr>
        </a:p>
      </dgm:t>
    </dgm:pt>
    <dgm:pt modelId="{99BC25CA-8E4E-4307-889E-2BAF183C5ECB}" type="parTrans" cxnId="{A8732BB7-BB04-488C-BCDB-C7193DC83263}">
      <dgm:prSet/>
      <dgm:spPr/>
      <dgm:t>
        <a:bodyPr/>
        <a:lstStyle/>
        <a:p>
          <a:endParaRPr lang="en-IN"/>
        </a:p>
      </dgm:t>
    </dgm:pt>
    <dgm:pt modelId="{8B3E2F48-E96A-4F4F-B560-4A0185C07D83}" type="sibTrans" cxnId="{A8732BB7-BB04-488C-BCDB-C7193DC83263}">
      <dgm:prSet/>
      <dgm:spPr/>
      <dgm:t>
        <a:bodyPr/>
        <a:lstStyle/>
        <a:p>
          <a:endParaRPr lang="en-IN"/>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2" presStyleCnt="5"/>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3" presStyleCnt="5"/>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4" presStyleCnt="5"/>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pt>
  </dgm:ptLst>
  <dgm:cxnLst>
    <dgm:cxn modelId="{E6B70501-CFCB-4D4A-94BE-F63036069196}" type="presOf" srcId="{5751524B-FB67-4894-A0C5-35151E149D68}" destId="{A6BCDA7B-D633-438F-B44D-CB4D60E5C492}" srcOrd="0" destOrd="0" presId="urn:microsoft.com/office/officeart/2011/layout/InterconnectedBlockProcess"/>
    <dgm:cxn modelId="{521FD508-C5FD-4804-AFDC-D1FF9945B211}" srcId="{5751524B-FB67-4894-A0C5-35151E149D68}" destId="{65C051F6-A849-4495-A964-CD4C650B9C06}" srcOrd="4" destOrd="0" parTransId="{C24738E5-1547-4D8D-A2CE-64D703ECDF78}" sibTransId="{196A2EB9-DD96-4630-B699-7AF000340374}"/>
    <dgm:cxn modelId="{E94CD512-E47E-4B2A-8B42-1BBD0CE921B4}" type="presOf" srcId="{D471E45F-B026-44AA-9616-57E786AE80AF}" destId="{A134CDD1-D85F-44EF-8BEE-9F99A855C1E6}" srcOrd="0" destOrd="0" presId="urn:microsoft.com/office/officeart/2011/layout/InterconnectedBlockProcess"/>
    <dgm:cxn modelId="{DCBBD912-689F-4398-945B-50D7C906D480}" type="presOf" srcId="{65C051F6-A849-4495-A964-CD4C650B9C06}" destId="{C73DE52A-2F45-45E6-AD0E-D5BEAF609F8E}"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9968B222-D31D-470C-B070-DE846F1F9D0E}" type="presOf" srcId="{EC821DEC-898D-4C5A-884E-F3DA7D181C45}" destId="{FC0F1314-3294-4A8C-8DCE-EB53E236164C}" srcOrd="0" destOrd="0" presId="urn:microsoft.com/office/officeart/2011/layout/InterconnectedBlockProcess"/>
    <dgm:cxn modelId="{D867A52A-E015-42FE-9214-B73E8AD956A7}" type="presOf" srcId="{6F449608-2E71-49EA-AE99-5A6185B26E90}" destId="{928B615F-0F8D-4140-A638-0FBB8F5BF1E9}" srcOrd="1" destOrd="0" presId="urn:microsoft.com/office/officeart/2011/layout/InterconnectedBlockProcess"/>
    <dgm:cxn modelId="{BD4D063F-4481-4272-86B1-D2EA110CC162}" type="presOf" srcId="{73DB572E-062D-41AD-8033-D361B8E583DB}" destId="{0D08ED52-6744-4369-B780-916B09984775}" srcOrd="1" destOrd="0"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5C3C918A-4C4A-4DEB-924A-CC330C09FB27}" type="presOf" srcId="{5E92505A-51E0-4F78-B3C5-704ACF8710DE}" destId="{2AAD338D-3122-4454-9A67-16BE024D44E3}" srcOrd="0"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940B4C9B-D5E4-4E48-A872-B455F86EA2F7}" type="presOf" srcId="{D471E45F-B026-44AA-9616-57E786AE80AF}" destId="{1C91D7E3-8940-4A33-9182-677DD5415901}"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A207B0B4-E45E-43BA-9F40-BD8C7EF04080}" srcId="{5E92505A-51E0-4F78-B3C5-704ACF8710DE}" destId="{EC821DEC-898D-4C5A-884E-F3DA7D181C45}" srcOrd="0" destOrd="0" parTransId="{425133CF-D240-4952-B7FA-9D0AB245C602}" sibTransId="{AE7D6FD3-DC47-4918-B43B-A598C2B3EE73}"/>
    <dgm:cxn modelId="{99123AB6-085A-4067-B319-D4EF509BC3C6}" type="presOf" srcId="{6F449608-2E71-49EA-AE99-5A6185B26E90}" destId="{8CAE5A4D-0C7B-48A6-917B-0B8433D0574B}" srcOrd="0" destOrd="0" presId="urn:microsoft.com/office/officeart/2011/layout/InterconnectedBlockProcess"/>
    <dgm:cxn modelId="{A8732BB7-BB04-488C-BCDB-C7193DC83263}" srcId="{65C051F6-A849-4495-A964-CD4C650B9C06}" destId="{6F449608-2E71-49EA-AE99-5A6185B26E90}" srcOrd="0" destOrd="0" parTransId="{99BC25CA-8E4E-4307-889E-2BAF183C5ECB}" sibTransId="{8B3E2F48-E96A-4F4F-B560-4A0185C07D83}"/>
    <dgm:cxn modelId="{AD0A74B8-550A-4F0D-9A26-ADB7CD7A34B7}" type="presOf" srcId="{988D96B0-D16E-4763-B393-84178CF4FF50}" destId="{65257024-FAC0-4522-B139-1CC85B547BE8}" srcOrd="0" destOrd="0"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D1BA1DD0-A52A-47BF-962D-9810C87E1576}" srcId="{5751524B-FB67-4894-A0C5-35151E149D68}" destId="{A59EC69B-8F3F-425B-819F-E8C557946AEE}" srcOrd="2" destOrd="0" parTransId="{0095C3CB-916F-4060-A8DA-DD282FB51587}" sibTransId="{2868AD8D-4E38-46CE-A972-709857BF40AC}"/>
    <dgm:cxn modelId="{76399EE2-4AE8-4697-AD54-D03B4D5FB74B}" type="presOf" srcId="{EC821DEC-898D-4C5A-884E-F3DA7D181C45}" destId="{98225A61-A0EC-450A-BED8-EF2E47E8FD18}" srcOrd="1" destOrd="0" presId="urn:microsoft.com/office/officeart/2011/layout/InterconnectedBlockProcess"/>
    <dgm:cxn modelId="{D95A05E5-1205-4AD1-9AA3-74CA7A4B9EF2}" type="presOf" srcId="{9FED87C4-3F3B-4A18-9185-9F80CFEDEA2E}" destId="{6BCCFBA6-7A43-4631-AD7F-AFB10E1E6CD7}" srcOrd="1"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AEE28BEF-3F73-41A5-9307-D42A450FCA17}" srcId="{988D96B0-D16E-4763-B393-84178CF4FF50}" destId="{D471E45F-B026-44AA-9616-57E786AE80AF}" srcOrd="0" destOrd="0" parTransId="{326A986D-69A4-4AC0-AD9B-462FFC9C3F18}" sibTransId="{304E70AD-39C7-4C28-BF7B-6EE91BAE97B7}"/>
    <dgm:cxn modelId="{8CB593F6-6C5D-4606-B959-3E27F9872EC1}" srcId="{5751524B-FB67-4894-A0C5-35151E149D68}" destId="{988D96B0-D16E-4763-B393-84178CF4FF50}" srcOrd="0" destOrd="0" parTransId="{080A6B9D-C27D-4227-AC65-3C97878D78C4}" sibTransId="{19B27CEC-4BAD-44A7-A9A7-B7A8B23ADCFD}"/>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173684" y="811638"/>
          <a:ext cx="1278320" cy="3246556"/>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Completion of the project/Internship and final report preparation and submission.</a:t>
          </a:r>
          <a:endParaRPr lang="en-IN" sz="1400" kern="1200" dirty="0">
            <a:latin typeface="Times New Roman" panose="02020603050405020304" pitchFamily="18" charset="0"/>
            <a:cs typeface="Times New Roman" panose="02020603050405020304" pitchFamily="18" charset="0"/>
          </a:endParaRPr>
        </a:p>
      </dsp:txBody>
      <dsp:txXfrm>
        <a:off x="7335949" y="811638"/>
        <a:ext cx="1116055" cy="3246555"/>
      </dsp:txXfrm>
    </dsp:sp>
    <dsp:sp modelId="{C73DE52A-2F45-45E6-AD0E-D5BEAF609F8E}">
      <dsp:nvSpPr>
        <dsp:cNvPr id="0" name=""/>
        <dsp:cNvSpPr/>
      </dsp:nvSpPr>
      <dsp:spPr>
        <a:xfrm>
          <a:off x="7173684" y="0"/>
          <a:ext cx="1278320" cy="81163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Final Review</a:t>
          </a:r>
        </a:p>
      </dsp:txBody>
      <dsp:txXfrm>
        <a:off x="7173684" y="0"/>
        <a:ext cx="1278320" cy="811638"/>
      </dsp:txXfrm>
    </dsp:sp>
    <dsp:sp modelId="{FC0F1314-3294-4A8C-8DCE-EB53E236164C}">
      <dsp:nvSpPr>
        <dsp:cNvPr id="0" name=""/>
        <dsp:cNvSpPr/>
      </dsp:nvSpPr>
      <dsp:spPr>
        <a:xfrm>
          <a:off x="5898557" y="811638"/>
          <a:ext cx="1278320" cy="3043646"/>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Continuing on the team- based work/projects and process understanding &amp; implementation</a:t>
          </a:r>
          <a:r>
            <a:rPr lang="en-US" sz="1200" kern="1200" dirty="0">
              <a:latin typeface="Times New Roman" panose="02020603050405020304" pitchFamily="18" charset="0"/>
              <a:cs typeface="Times New Roman" panose="02020603050405020304" pitchFamily="18" charset="0"/>
            </a:rPr>
            <a:t>. </a:t>
          </a:r>
          <a:endParaRPr lang="en-IN" sz="1200" kern="1200" dirty="0">
            <a:latin typeface="Times New Roman" panose="02020603050405020304" pitchFamily="18" charset="0"/>
            <a:cs typeface="Times New Roman" panose="02020603050405020304" pitchFamily="18" charset="0"/>
          </a:endParaRPr>
        </a:p>
      </dsp:txBody>
      <dsp:txXfrm>
        <a:off x="6060823" y="811638"/>
        <a:ext cx="1116055" cy="3043646"/>
      </dsp:txXfrm>
    </dsp:sp>
    <dsp:sp modelId="{2AAD338D-3122-4454-9A67-16BE024D44E3}">
      <dsp:nvSpPr>
        <dsp:cNvPr id="0" name=""/>
        <dsp:cNvSpPr/>
      </dsp:nvSpPr>
      <dsp:spPr>
        <a:xfrm>
          <a:off x="5898557" y="101454"/>
          <a:ext cx="1278320" cy="71018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4</a:t>
          </a:r>
        </a:p>
      </dsp:txBody>
      <dsp:txXfrm>
        <a:off x="5898557" y="101454"/>
        <a:ext cx="1278320" cy="710184"/>
      </dsp:txXfrm>
    </dsp:sp>
    <dsp:sp modelId="{2532504F-5FE1-4C97-B485-F05E8885EACC}">
      <dsp:nvSpPr>
        <dsp:cNvPr id="0" name=""/>
        <dsp:cNvSpPr/>
      </dsp:nvSpPr>
      <dsp:spPr>
        <a:xfrm>
          <a:off x="4620236" y="811638"/>
          <a:ext cx="1278320" cy="2840736"/>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Working as a part of the team on the assigned tasks and projects accordingly</a:t>
          </a:r>
          <a:r>
            <a:rPr lang="en-US" sz="1300" kern="1200" dirty="0">
              <a:latin typeface="Times New Roman" panose="02020603050405020304" pitchFamily="18" charset="0"/>
              <a:cs typeface="Times New Roman" panose="02020603050405020304" pitchFamily="18" charset="0"/>
            </a:rPr>
            <a:t>.</a:t>
          </a:r>
        </a:p>
      </dsp:txBody>
      <dsp:txXfrm>
        <a:off x="4782502" y="811638"/>
        <a:ext cx="1116055" cy="2840736"/>
      </dsp:txXfrm>
    </dsp:sp>
    <dsp:sp modelId="{4C66D42D-7E6D-4563-AFDC-369C30B73F70}">
      <dsp:nvSpPr>
        <dsp:cNvPr id="0" name=""/>
        <dsp:cNvSpPr/>
      </dsp:nvSpPr>
      <dsp:spPr>
        <a:xfrm>
          <a:off x="4620236" y="206156"/>
          <a:ext cx="1278320" cy="60872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3</a:t>
          </a:r>
        </a:p>
      </dsp:txBody>
      <dsp:txXfrm>
        <a:off x="4620236" y="206156"/>
        <a:ext cx="1278320" cy="608729"/>
      </dsp:txXfrm>
    </dsp:sp>
    <dsp:sp modelId="{06F8D57B-EDF4-4CF4-8700-DC2CA3E3028E}">
      <dsp:nvSpPr>
        <dsp:cNvPr id="0" name=""/>
        <dsp:cNvSpPr/>
      </dsp:nvSpPr>
      <dsp:spPr>
        <a:xfrm>
          <a:off x="3341915" y="811638"/>
          <a:ext cx="1278320" cy="2637826"/>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Training on tools required for TTT Law processes and completing small guided tasks with hands on practical learning</a:t>
          </a:r>
          <a:r>
            <a:rPr lang="en-US" sz="1300" kern="1200" dirty="0">
              <a:latin typeface="Times New Roman" panose="02020603050405020304" pitchFamily="18" charset="0"/>
              <a:cs typeface="Times New Roman" panose="02020603050405020304" pitchFamily="18" charset="0"/>
            </a:rPr>
            <a:t>. </a:t>
          </a:r>
        </a:p>
      </dsp:txBody>
      <dsp:txXfrm>
        <a:off x="3504181" y="811638"/>
        <a:ext cx="1116055" cy="2637826"/>
      </dsp:txXfrm>
    </dsp:sp>
    <dsp:sp modelId="{00BB3360-A9BB-4051-A4B1-1216F82F642C}">
      <dsp:nvSpPr>
        <dsp:cNvPr id="0" name=""/>
        <dsp:cNvSpPr/>
      </dsp:nvSpPr>
      <dsp:spPr>
        <a:xfrm>
          <a:off x="3341915" y="304364"/>
          <a:ext cx="1278320" cy="5072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2</a:t>
          </a:r>
        </a:p>
      </dsp:txBody>
      <dsp:txXfrm>
        <a:off x="3341915" y="304364"/>
        <a:ext cx="1278320" cy="507274"/>
      </dsp:txXfrm>
    </dsp:sp>
    <dsp:sp modelId="{A134CDD1-D85F-44EF-8BEE-9F99A855C1E6}">
      <dsp:nvSpPr>
        <dsp:cNvPr id="0" name=""/>
        <dsp:cNvSpPr/>
      </dsp:nvSpPr>
      <dsp:spPr>
        <a:xfrm>
          <a:off x="2063594" y="811638"/>
          <a:ext cx="1278320" cy="243491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Onboarding and Orientation, Understanding company policies and team workflow</a:t>
          </a:r>
          <a:r>
            <a:rPr lang="en-US" sz="1300" kern="1200" dirty="0">
              <a:latin typeface="Times New Roman" panose="02020603050405020304" pitchFamily="18" charset="0"/>
              <a:cs typeface="Times New Roman" panose="02020603050405020304" pitchFamily="18" charset="0"/>
            </a:rPr>
            <a:t>.</a:t>
          </a:r>
        </a:p>
      </dsp:txBody>
      <dsp:txXfrm>
        <a:off x="2225860" y="811638"/>
        <a:ext cx="1116055" cy="2434917"/>
      </dsp:txXfrm>
    </dsp:sp>
    <dsp:sp modelId="{65257024-FAC0-4522-B139-1CC85B547BE8}">
      <dsp:nvSpPr>
        <dsp:cNvPr id="0" name=""/>
        <dsp:cNvSpPr/>
      </dsp:nvSpPr>
      <dsp:spPr>
        <a:xfrm>
          <a:off x="2063594" y="405819"/>
          <a:ext cx="1278320" cy="4058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1</a:t>
          </a:r>
        </a:p>
      </dsp:txBody>
      <dsp:txXfrm>
        <a:off x="2063594" y="405819"/>
        <a:ext cx="1278320" cy="405819"/>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31/01/2026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456346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31-01-2026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31-01-2026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31-01-2026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31-01-2026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31-01-2026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31-01-2026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31-01-2026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31-01-2026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31-01-2026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31-01-2026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31-01-2026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31-01-2026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harshithahaa/CSE7302_INTERNSHIP_ERNST-YOUNG_EY-GD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Dr./Mr./Ms./Prof. </a:t>
            </a:r>
            <a:r>
              <a:rPr lang="en-GB" b="1" dirty="0">
                <a:solidFill>
                  <a:schemeClr val="tx1">
                    <a:lumMod val="95000"/>
                    <a:lumOff val="5000"/>
                  </a:schemeClr>
                </a:solidFill>
                <a:latin typeface="Cambria" panose="02040503050406030204" pitchFamily="18" charset="0"/>
                <a:ea typeface="Cambria" panose="02040503050406030204" pitchFamily="18" charset="0"/>
                <a:cs typeface="Verdana"/>
                <a:sym typeface="Verdana"/>
              </a:rPr>
              <a:t>Sumana Datta</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School of 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a:solidFill>
                  <a:schemeClr val="tx1">
                    <a:lumMod val="95000"/>
                    <a:lumOff val="5000"/>
                  </a:schemeClr>
                </a:solidFill>
                <a:latin typeface="Cambria" panose="02040503050406030204" pitchFamily="18" charset="0"/>
                <a:ea typeface="Cambria" panose="02040503050406030204" pitchFamily="18" charset="0"/>
                <a:cs typeface="Verdana"/>
                <a:sym typeface="Verdana"/>
              </a:rPr>
              <a:t>B. Tech (Information Science and Engineering)</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2000" b="1" dirty="0">
                <a:solidFill>
                  <a:schemeClr val="tx1">
                    <a:lumMod val="95000"/>
                    <a:lumOff val="5000"/>
                  </a:schemeClr>
                </a:solidFill>
                <a:latin typeface="Cambria" panose="02040503050406030204" pitchFamily="18" charset="0"/>
                <a:ea typeface="Cambria" panose="02040503050406030204" pitchFamily="18" charset="0"/>
                <a:cs typeface="Verdana"/>
                <a:sym typeface="Verdana"/>
              </a:rPr>
              <a:t>Dr. Gopal Krishna Shyam</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dirty="0">
                <a:solidFill>
                  <a:schemeClr val="tx1">
                    <a:lumMod val="95000"/>
                    <a:lumOff val="5000"/>
                  </a:schemeClr>
                </a:solidFill>
                <a:latin typeface="Cambria" panose="02040503050406030204" pitchFamily="18" charset="0"/>
                <a:ea typeface="Cambria" panose="02040503050406030204" pitchFamily="18" charset="0"/>
                <a:cs typeface="Verdana"/>
                <a:sym typeface="Verdana"/>
              </a:rPr>
              <a:t>Mr. Sreehari T M</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Md Ziaur Rahman</a:t>
            </a:r>
          </a:p>
          <a:p>
            <a:pPr marL="0" marR="0" lvl="0" indent="0" rtl="0">
              <a:spcBef>
                <a:spcPts val="0"/>
              </a:spcBef>
              <a:spcAft>
                <a:spcPts val="0"/>
              </a:spcAft>
              <a:buClr>
                <a:srgbClr val="17365D"/>
              </a:buClr>
              <a:buSzPct val="100000"/>
              <a:buFont typeface="Arial"/>
              <a:buNone/>
            </a:pP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Review-2 Presentation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JOB TITLE – TAX TECHNOLOGY TRANSFORMATION (TTT)</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1211973529"/>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b="0" dirty="0">
                          <a:latin typeface="Times New Roman" panose="02020603050405020304" pitchFamily="18" charset="0"/>
                          <a:ea typeface="Cambria" panose="02040503050406030204" pitchFamily="18" charset="0"/>
                          <a:cs typeface="Times New Roman" panose="02020603050405020304" pitchFamily="18" charset="0"/>
                        </a:rPr>
                        <a:t>Harshitha V</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b="0" dirty="0">
                          <a:latin typeface="Times New Roman" panose="02020603050405020304" pitchFamily="18" charset="0"/>
                          <a:ea typeface="Cambria" panose="02040503050406030204" pitchFamily="18" charset="0"/>
                          <a:cs typeface="Times New Roman" panose="02020603050405020304" pitchFamily="18" charset="0"/>
                        </a:rPr>
                        <a:t>20221ISE0077</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b="0" dirty="0">
                          <a:latin typeface="Times New Roman" panose="02020603050405020304" pitchFamily="18" charset="0"/>
                          <a:ea typeface="Cambria" panose="02040503050406030204" pitchFamily="18" charset="0"/>
                          <a:cs typeface="Times New Roman" panose="02020603050405020304" pitchFamily="18" charset="0"/>
                        </a:rPr>
                        <a:t>8ISE01</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Internship Roadmap</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62940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188467"/>
            <a:ext cx="10515600" cy="4193176"/>
          </a:xfrm>
        </p:spPr>
        <p:txBody>
          <a:bodyPr>
            <a:normAutofit fontScale="92500" lnSpcReduction="20000"/>
          </a:bodyPr>
          <a:lstStyle/>
          <a:p>
            <a:r>
              <a:rPr lang="en-US" dirty="0"/>
              <a:t>Ernst &amp; Young (EY) India is a leading professional services firm and part of the global EY network </a:t>
            </a:r>
          </a:p>
          <a:p>
            <a:r>
              <a:rPr lang="en-US" dirty="0"/>
              <a:t>Provides services in assurance, consulting, tax, and strategy &amp; transactions across industries </a:t>
            </a:r>
          </a:p>
          <a:p>
            <a:r>
              <a:rPr lang="en-US" dirty="0"/>
              <a:t>Uses advanced technologies such as data analytics, automation, and AI to deliver business solutions </a:t>
            </a:r>
          </a:p>
          <a:p>
            <a:r>
              <a:rPr lang="en-US" dirty="0"/>
              <a:t>Focuses on digital transformation, risk management, and regulatory compliance </a:t>
            </a:r>
          </a:p>
          <a:p>
            <a:r>
              <a:rPr lang="en-US" dirty="0"/>
              <a:t>Works with startups, large enterprises, and multinational organizations. </a:t>
            </a:r>
          </a:p>
          <a:p>
            <a:r>
              <a:rPr lang="en-US" dirty="0"/>
              <a:t>Emphasizes professional development through structured training, mentorship, and real-world client exposure</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1558138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367"/>
            <a:ext cx="10515600" cy="4058194"/>
          </a:xfrm>
        </p:spPr>
        <p:txBody>
          <a:bodyPr>
            <a:normAutofit fontScale="85000" lnSpcReduction="10000"/>
          </a:bodyPr>
          <a:lstStyle/>
          <a:p>
            <a:r>
              <a:rPr lang="en-US" dirty="0"/>
              <a:t>My working domain is </a:t>
            </a:r>
            <a:r>
              <a:rPr lang="en-US" b="1" dirty="0"/>
              <a:t>Tax Technology Transformation (TTT) – LAW competency</a:t>
            </a:r>
            <a:r>
              <a:rPr lang="en-US" dirty="0"/>
              <a:t> at EY Global Delivery Services, which focuses on modernizing and digitizing tax-related processes using technology. </a:t>
            </a:r>
          </a:p>
          <a:p>
            <a:r>
              <a:rPr lang="en-US" dirty="0"/>
              <a:t>In this domain, I work at the intersection of tax, technology, and business, helping teams improve efficiency, accuracy, and compliance through tools and platforms.</a:t>
            </a:r>
          </a:p>
          <a:p>
            <a:r>
              <a:rPr lang="en-US" dirty="0"/>
              <a:t> The role involves supporting the implementation and optimization of systems such as contract lifecycle management (CLM), ELM, data analytics, and automation solutions.</a:t>
            </a:r>
          </a:p>
          <a:p>
            <a:r>
              <a:rPr lang="en-US" dirty="0"/>
              <a:t> I also collaborate with cross-functional teams to understand requirements, streamline workflows, and enhance user experience. Overall, my domain plays a key role in transforming traditional tax functions into agile, technology-driven operations that deliver greater value to clients.</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Tree>
    <p:extLst>
      <p:ext uri="{BB962C8B-B14F-4D97-AF65-F5344CB8AC3E}">
        <p14:creationId xmlns:p14="http://schemas.microsoft.com/office/powerpoint/2010/main" val="658682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7"/>
            <a:ext cx="10515600" cy="4058194"/>
          </a:xfrm>
        </p:spPr>
        <p:txBody>
          <a:bodyPr>
            <a:normAutofit fontScale="92500" lnSpcReduction="10000"/>
          </a:bodyPr>
          <a:lstStyle/>
          <a:p>
            <a:r>
              <a:rPr lang="en-US" dirty="0"/>
              <a:t>My team is part of the </a:t>
            </a:r>
            <a:r>
              <a:rPr lang="en-US" b="1" dirty="0"/>
              <a:t>Tax Technology Transformation (TTT LAW)</a:t>
            </a:r>
            <a:r>
              <a:rPr lang="en-US" dirty="0"/>
              <a:t> domain at EY GDS, where we work collaboratively to support technology-driven improvements in tax and compliance processes. </a:t>
            </a:r>
          </a:p>
          <a:p>
            <a:r>
              <a:rPr lang="en-US" dirty="0"/>
              <a:t>The team focuses on learning and contributing to tools, platforms, and workflows that enhance efficiency, accuracy, and standardization across engagements. </a:t>
            </a:r>
          </a:p>
          <a:p>
            <a:r>
              <a:rPr lang="en-US" dirty="0"/>
              <a:t>We operate in a supportive and knowledge-sharing environment, where guidance and collaboration are encouraged. </a:t>
            </a:r>
          </a:p>
          <a:p>
            <a:r>
              <a:rPr lang="en-US" dirty="0"/>
              <a:t>My Reporting Manager/Counsellor, </a:t>
            </a:r>
            <a:r>
              <a:rPr lang="en-US" b="1" dirty="0"/>
              <a:t>Ms. Soni Kumari </a:t>
            </a:r>
            <a:r>
              <a:rPr lang="en-US" dirty="0"/>
              <a:t>provides clear direction, regular feedback, and mentorship, helping me understand both the technical and business aspects of our work.</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2510696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1184367"/>
            <a:ext cx="10515600" cy="4058194"/>
          </a:xfrm>
        </p:spPr>
        <p:txBody>
          <a:bodyPr>
            <a:normAutofit lnSpcReduction="10000"/>
          </a:bodyPr>
          <a:lstStyle/>
          <a:p>
            <a:r>
              <a:rPr lang="en-US" dirty="0"/>
              <a:t>Initial difficulty in adapting to a professional, industry-oriented work environment.</a:t>
            </a:r>
          </a:p>
          <a:p>
            <a:r>
              <a:rPr lang="en-US" dirty="0"/>
              <a:t>Understanding project requirements, tools, and workflows within a limited timeframe. </a:t>
            </a:r>
          </a:p>
          <a:p>
            <a:r>
              <a:rPr lang="en-US" dirty="0"/>
              <a:t>Balancing internship responsibilities alongside academic commitments.</a:t>
            </a:r>
          </a:p>
          <a:p>
            <a:r>
              <a:rPr lang="en-US" dirty="0"/>
              <a:t>Getting familiar with technologies such as DocuSign, Onit, Agiloft, Sirion etc. used.</a:t>
            </a:r>
          </a:p>
          <a:p>
            <a:r>
              <a:rPr lang="en-US" dirty="0"/>
              <a:t>Adjusting to structured reporting, reviews, and performance expectations.</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1206156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1184367"/>
            <a:ext cx="10515600" cy="4058194"/>
          </a:xfrm>
        </p:spPr>
        <p:txBody>
          <a:bodyPr>
            <a:normAutofit lnSpcReduction="10000"/>
          </a:bodyPr>
          <a:lstStyle/>
          <a:p>
            <a:r>
              <a:rPr lang="en-US" dirty="0"/>
              <a:t>To understand real-world project workflows and development processes.</a:t>
            </a:r>
          </a:p>
          <a:p>
            <a:r>
              <a:rPr lang="en-US" altLang="en-US" dirty="0"/>
              <a:t>To assist teams in delivering high-quality, compliant, and timely outcomes for clients.</a:t>
            </a:r>
          </a:p>
          <a:p>
            <a:r>
              <a:rPr lang="en-US" altLang="en-US" dirty="0"/>
              <a:t>To bridge the gap between technical implementation and business requirements.</a:t>
            </a:r>
          </a:p>
          <a:p>
            <a:r>
              <a:rPr lang="en-US" dirty="0"/>
              <a:t>To learn and apply tools, platforms, and processes used in tax and compliance operations.</a:t>
            </a:r>
          </a:p>
          <a:p>
            <a:r>
              <a:rPr lang="en-US" dirty="0"/>
              <a:t>To gain practical exposure to real-world enterprise systems and corporate practices.</a:t>
            </a:r>
            <a:endParaRPr lang="en-US" altLang="en-US" dirty="0"/>
          </a:p>
          <a:p>
            <a:endParaRPr lang="en-US" altLang="en-US" dirty="0"/>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2516334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p>
        </p:txBody>
      </p:sp>
      <p:sp>
        <p:nvSpPr>
          <p:cNvPr id="3" name="Content Placeholder 2"/>
          <p:cNvSpPr>
            <a:spLocks noGrp="1"/>
          </p:cNvSpPr>
          <p:nvPr>
            <p:ph idx="1"/>
          </p:nvPr>
        </p:nvSpPr>
        <p:spPr>
          <a:xfrm>
            <a:off x="838200" y="1184367"/>
            <a:ext cx="10515600" cy="4058194"/>
          </a:xfrm>
        </p:spPr>
        <p:txBody>
          <a:bodyPr>
            <a:normAutofit fontScale="77500" lnSpcReduction="20000"/>
          </a:bodyPr>
          <a:lstStyle/>
          <a:p>
            <a:r>
              <a:rPr lang="en-US" dirty="0"/>
              <a:t>Tax Technology Transformation (TTT) focuses on using technology to modernize traditional tax and legal processes. Existing studies highlight the increasing use of automation, cloud-based platforms, and data analytics to improve efficiency, accuracy, and regulatory compliance. Manual and document-heavy processes are often associated with higher risks, delays, and lack of transparency, which has driven organizations toward digital solutions.</a:t>
            </a:r>
          </a:p>
          <a:p>
            <a:r>
              <a:rPr lang="en-US" dirty="0"/>
              <a:t>Literature on Contract Lifecycle Management (CLM) systems explains how centralized contract repositories and workflow automation support better contract governance and compliance. </a:t>
            </a:r>
          </a:p>
          <a:p>
            <a:r>
              <a:rPr lang="en-US" dirty="0"/>
              <a:t>Research also emphasizes the role of emerging technologies such as rule-based automation and artificial intelligence in contract review, risk identification, and decision-making. </a:t>
            </a:r>
          </a:p>
          <a:p>
            <a:r>
              <a:rPr lang="en-US" dirty="0"/>
              <a:t>Overall, studies conclude that TTT in the legal domain enables proactive compliance and improved operational efficiency, while also noting challenges related to system integration, data security, and user adoption.</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Tree>
    <p:extLst>
      <p:ext uri="{BB962C8B-B14F-4D97-AF65-F5344CB8AC3E}">
        <p14:creationId xmlns:p14="http://schemas.microsoft.com/office/powerpoint/2010/main" val="972927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System / Work</a:t>
            </a:r>
          </a:p>
        </p:txBody>
      </p:sp>
      <p:sp>
        <p:nvSpPr>
          <p:cNvPr id="3" name="Content Placeholder 2"/>
          <p:cNvSpPr>
            <a:spLocks noGrp="1"/>
          </p:cNvSpPr>
          <p:nvPr>
            <p:ph idx="1"/>
          </p:nvPr>
        </p:nvSpPr>
        <p:spPr>
          <a:xfrm>
            <a:off x="838200" y="1363147"/>
            <a:ext cx="10515600" cy="4131705"/>
          </a:xfrm>
        </p:spPr>
        <p:txBody>
          <a:bodyPr>
            <a:normAutofit fontScale="77500" lnSpcReduction="20000"/>
          </a:bodyPr>
          <a:lstStyle/>
          <a:p>
            <a:r>
              <a:rPr lang="en-US" dirty="0"/>
              <a:t>The proposed system focuses on supporting </a:t>
            </a:r>
            <a:r>
              <a:rPr lang="en-US" b="1" dirty="0"/>
              <a:t>Tax Technology Transformation in the legal domain</a:t>
            </a:r>
            <a:r>
              <a:rPr lang="en-US" dirty="0"/>
              <a:t> through the use of modern Contract Lifecycle Management (CLM) and digital workflow tools. This system aims to replace manual, email-driven, and document-centric processes with automated, centralized, and auditable platforms.</a:t>
            </a:r>
          </a:p>
          <a:p>
            <a:r>
              <a:rPr lang="en-US" dirty="0"/>
              <a:t>As part of the proposed work, training and hands-on exposure are provided on tools such as </a:t>
            </a:r>
            <a:r>
              <a:rPr lang="en-US" b="1" dirty="0"/>
              <a:t>DocuSign, Onit, Agiloft, and Sirion</a:t>
            </a:r>
            <a:r>
              <a:rPr lang="en-US" dirty="0"/>
              <a:t>, which are used to manage contracts, approvals, obligations, and compliance workflows. These platforms enable features such as digital contract creation, clause management, automated approvals, electronic signatures, and lifecycle tracking from contract initiation to execution and renewal.</a:t>
            </a:r>
          </a:p>
          <a:p>
            <a:r>
              <a:rPr lang="en-US" dirty="0"/>
              <a:t>The proposed system improves </a:t>
            </a:r>
            <a:r>
              <a:rPr lang="en-US" b="1" dirty="0"/>
              <a:t>efficiency, accuracy, and compliance</a:t>
            </a:r>
            <a:r>
              <a:rPr lang="en-US" dirty="0"/>
              <a:t> by reducing manual intervention and ensuring standardized processes. It also enhances visibility and collaboration among tax, legal, and business teams through centralized data and real-time tracking. Overall, the proposed work supports EY’s objective of delivering scalable, technology-driven legal and tax solutions to global clients.</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Tree>
    <p:extLst>
      <p:ext uri="{BB962C8B-B14F-4D97-AF65-F5344CB8AC3E}">
        <p14:creationId xmlns:p14="http://schemas.microsoft.com/office/powerpoint/2010/main" val="3552477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7189" y="330078"/>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sp>
        <p:nvSpPr>
          <p:cNvPr id="5" name="Rectangle 1">
            <a:extLst>
              <a:ext uri="{FF2B5EF4-FFF2-40B4-BE49-F238E27FC236}">
                <a16:creationId xmlns:a16="http://schemas.microsoft.com/office/drawing/2014/main" id="{572AD325-F67F-594E-A569-6BD1B737177A}"/>
              </a:ext>
            </a:extLst>
          </p:cNvPr>
          <p:cNvSpPr>
            <a:spLocks noGrp="1" noChangeArrowheads="1"/>
          </p:cNvSpPr>
          <p:nvPr>
            <p:ph idx="1"/>
          </p:nvPr>
        </p:nvSpPr>
        <p:spPr bwMode="auto">
          <a:xfrm>
            <a:off x="1089211" y="803551"/>
            <a:ext cx="10609729" cy="48197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92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20" i="0" u="none" strike="noStrike" cap="none" normalizeH="0" baseline="0" dirty="0">
                <a:ln>
                  <a:noFill/>
                </a:ln>
                <a:solidFill>
                  <a:schemeClr val="tx1"/>
                </a:solidFill>
                <a:effectLst/>
              </a:rPr>
              <a:t> Improves accuracy and minimizes errors in contract and compliance processes</a:t>
            </a:r>
            <a:endParaRPr lang="en-US" altLang="en-US" sz="1920" dirty="0"/>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920" dirty="0"/>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920" dirty="0"/>
              <a:t> Reduces manual effort and processing time through automation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92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20" i="0" u="none" strike="noStrike" cap="none" normalizeH="0" baseline="0" dirty="0">
                <a:ln>
                  <a:noFill/>
                </a:ln>
                <a:solidFill>
                  <a:schemeClr val="tx1"/>
                </a:solidFill>
                <a:effectLst/>
              </a:rPr>
              <a:t> Ensures better regulatory and tax compliance through standardized workflows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92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20" i="0" u="none" strike="noStrike" cap="none" normalizeH="0" baseline="0" dirty="0">
                <a:ln>
                  <a:noFill/>
                </a:ln>
                <a:solidFill>
                  <a:schemeClr val="tx1"/>
                </a:solidFill>
                <a:effectLst/>
              </a:rPr>
              <a:t> Enables secure and legally valid electronic signatures using DocuSign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92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20" i="0" u="none" strike="noStrike" cap="none" normalizeH="0" baseline="0" dirty="0">
                <a:ln>
                  <a:noFill/>
                </a:ln>
                <a:solidFill>
                  <a:schemeClr val="tx1"/>
                </a:solidFill>
                <a:effectLst/>
              </a:rPr>
              <a:t> Provides centralized storage and easy retrieval of contracts and related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92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20" i="0" u="none" strike="noStrike" cap="none" normalizeH="0" baseline="0" dirty="0">
                <a:ln>
                  <a:noFill/>
                </a:ln>
                <a:solidFill>
                  <a:schemeClr val="tx1"/>
                </a:solidFill>
                <a:effectLst/>
              </a:rPr>
              <a:t> Enhances visibility and tracking across the entire contract lifecycle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92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20" i="0" u="none" strike="noStrike" cap="none" normalizeH="0" baseline="0" dirty="0">
                <a:ln>
                  <a:noFill/>
                </a:ln>
                <a:solidFill>
                  <a:schemeClr val="tx1"/>
                </a:solidFill>
                <a:effectLst/>
              </a:rPr>
              <a:t> Supports better collaboration between tax, legal, and business teams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92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920" i="0" u="none" strike="noStrike" cap="none" normalizeH="0" baseline="0" dirty="0">
                <a:ln>
                  <a:noFill/>
                </a:ln>
                <a:solidFill>
                  <a:schemeClr val="tx1"/>
                </a:solidFill>
                <a:effectLst/>
              </a:rPr>
              <a:t> Scales easily to support global operations and high contract volumes</a:t>
            </a:r>
          </a:p>
        </p:txBody>
      </p:sp>
    </p:spTree>
    <p:extLst>
      <p:ext uri="{BB962C8B-B14F-4D97-AF65-F5344CB8AC3E}">
        <p14:creationId xmlns:p14="http://schemas.microsoft.com/office/powerpoint/2010/main" val="2246652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697158844"/>
              </p:ext>
            </p:extLst>
          </p:nvPr>
        </p:nvGraphicFramePr>
        <p:xfrm>
          <a:off x="838200" y="1399902"/>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470371" y="901298"/>
            <a:ext cx="6969087" cy="369332"/>
          </a:xfrm>
          <a:prstGeom prst="rect">
            <a:avLst/>
          </a:prstGeom>
          <a:noFill/>
        </p:spPr>
        <p:txBody>
          <a:bodyPr wrap="none" rtlCol="0">
            <a:spAutoFit/>
          </a:bodyPr>
          <a:lstStyle/>
          <a:p>
            <a:r>
              <a:rPr lang="en-GB" dirty="0">
                <a:solidFill>
                  <a:srgbClr val="0070C0"/>
                </a:solidFill>
              </a:rPr>
              <a:t>Note: Write in the below table what you will be achieving in each review</a:t>
            </a:r>
          </a:p>
        </p:txBody>
      </p:sp>
    </p:spTree>
    <p:extLst>
      <p:ext uri="{BB962C8B-B14F-4D97-AF65-F5344CB8AC3E}">
        <p14:creationId xmlns:p14="http://schemas.microsoft.com/office/powerpoint/2010/main" val="3497100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sp>
        <p:nvSpPr>
          <p:cNvPr id="3" name="Content Placeholder 2"/>
          <p:cNvSpPr>
            <a:spLocks noGrp="1"/>
          </p:cNvSpPr>
          <p:nvPr>
            <p:ph idx="1"/>
          </p:nvPr>
        </p:nvSpPr>
        <p:spPr>
          <a:xfrm>
            <a:off x="446308" y="1061297"/>
            <a:ext cx="10515600" cy="4351338"/>
          </a:xfrm>
        </p:spPr>
        <p:txBody>
          <a:bodyPr>
            <a:normAutofit/>
          </a:bodyPr>
          <a:lstStyle/>
          <a:p>
            <a:r>
              <a:rPr lang="en-US" sz="2400" dirty="0"/>
              <a:t>To access the Github Repository, click on the hyperlink below:</a:t>
            </a:r>
          </a:p>
          <a:p>
            <a:pPr marL="457200" lvl="1" indent="0">
              <a:buNone/>
            </a:pPr>
            <a:r>
              <a:rPr lang="en-US" dirty="0">
                <a:hlinkClick r:id="rId2"/>
              </a:rPr>
              <a:t>Harshitha V – Internship at Ernst&amp;Young (EYGDS)</a:t>
            </a:r>
            <a:endParaRPr lang="en-US" dirty="0"/>
          </a:p>
          <a:p>
            <a:pPr marL="0" indent="0">
              <a:buNone/>
            </a:pPr>
            <a:endParaRPr lang="en-US" sz="2400" dirty="0"/>
          </a:p>
          <a:p>
            <a:pPr marL="0" indent="0">
              <a:buNone/>
            </a:pPr>
            <a:r>
              <a:rPr lang="en-US" sz="2400" dirty="0"/>
              <a:t>Or </a:t>
            </a:r>
          </a:p>
          <a:p>
            <a:pPr marL="0" indent="0">
              <a:buNone/>
            </a:pPr>
            <a:endParaRPr lang="en-US" sz="2400" dirty="0"/>
          </a:p>
          <a:p>
            <a:r>
              <a:rPr lang="en-US" sz="2400" dirty="0"/>
              <a:t>Find it in the below address: https://github.com/harshithahaa/CSE7302_INTERNSHIP_ERNST-YOUNG_EY-GDS</a:t>
            </a:r>
          </a:p>
        </p:txBody>
      </p:sp>
    </p:spTree>
    <p:extLst>
      <p:ext uri="{BB962C8B-B14F-4D97-AF65-F5344CB8AC3E}">
        <p14:creationId xmlns:p14="http://schemas.microsoft.com/office/powerpoint/2010/main" val="295621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13</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14</a:t>
            </a:fld>
            <a:endParaRPr lang="en-US" altLang="en-US"/>
          </a:p>
        </p:txBody>
      </p:sp>
    </p:spTree>
    <p:extLst>
      <p:ext uri="{BB962C8B-B14F-4D97-AF65-F5344CB8AC3E}">
        <p14:creationId xmlns:p14="http://schemas.microsoft.com/office/powerpoint/2010/main" val="69660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7065</TotalTime>
  <Words>1229</Words>
  <Application>Microsoft Office PowerPoint</Application>
  <PresentationFormat>Widescreen</PresentationFormat>
  <Paragraphs>121</Paragraphs>
  <Slides>14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Working domain or the technology</vt:lpstr>
      <vt:lpstr>About your team and Reporting Manager</vt:lpstr>
      <vt:lpstr>Challenges Faced in Internship</vt:lpstr>
      <vt:lpstr>Objectives of the work</vt:lpstr>
      <vt:lpstr>Literature Review</vt:lpstr>
      <vt:lpstr>Proposed System / Work</vt:lpstr>
      <vt:lpstr>Advantages of Proposed System/Work</vt:lpstr>
      <vt:lpstr>Internship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HARSHITHA V</cp:lastModifiedBy>
  <cp:revision>718</cp:revision>
  <dcterms:created xsi:type="dcterms:W3CDTF">2022-10-14T07:18:17Z</dcterms:created>
  <dcterms:modified xsi:type="dcterms:W3CDTF">2026-01-31T18:27:32Z</dcterms:modified>
</cp:coreProperties>
</file>